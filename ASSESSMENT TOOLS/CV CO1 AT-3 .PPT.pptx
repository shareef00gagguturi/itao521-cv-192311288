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517F74C-F103-7033-3FA1-1C98B748767F}">
          <p14:sldIdLst>
            <p14:sldId id="256"/>
            <p14:sldId id="257"/>
          </p14:sldIdLst>
        </p14:section>
        <p14:section name="Problem 1 – Scenario" id="{A838C12D-4BAE-4F1C-403D-8B62F39AA607}">
          <p14:sldIdLst>
            <p14:sldId id="258"/>
            <p14:sldId id="259"/>
            <p14:sldId id="260"/>
          </p14:sldIdLst>
        </p14:section>
        <p14:section name="Problem 2 – Numerical" id="{FB6BD880-6E97-2EC5-0078-DEF4E1AEFE16}">
          <p14:sldIdLst>
            <p14:sldId id="261"/>
            <p14:sldId id="262"/>
          </p14:sldIdLst>
        </p14:section>
        <p14:section name="Demo and Conclusion" id="{6CD4881E-351B-D644-8979-D91D0E9B424A}">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44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F27"/>
                </a:solidFill>
                <a:latin typeface="+mn-lt"/>
              </a:defRPr>
            </a:pPr>
            <a:r>
              <a:rPr sz="1400" b="0" i="0" u="none" strike="noStrike">
                <a:solidFill>
                  <a:srgbClr val="1B1F27"/>
                </a:solidFill>
                <a:latin typeface="+mn-lt"/>
              </a:rPr>
              <a:t>Vehicle mix in the frame (n = 25)</a:t>
            </a:r>
          </a:p>
        </c:rich>
      </c:tx>
      <c:overlay val="0"/>
    </c:title>
    <c:autoTitleDeleted val="0"/>
    <c:plotArea>
      <c:layout/>
      <c:doughnutChart>
        <c:varyColors val="1"/>
        <c:ser>
          <c:idx val="0"/>
          <c:order val="0"/>
          <c:tx>
            <c:strRef>
              <c:f>Sheet1!$B$1</c:f>
              <c:strCache>
                <c:ptCount val="1"/>
                <c:pt idx="0">
                  <c:v>Vehicle mix</c:v>
                </c:pt>
              </c:strCache>
            </c:strRef>
          </c:tx>
          <c:spPr>
            <a:solidFill>
              <a:schemeClr val="accent1"/>
            </a:solidFill>
            <a:ln w="9525" cap="flat">
              <a:solidFill>
                <a:srgbClr val="F9F9F9"/>
              </a:solidFill>
              <a:prstDash val="solid"/>
              <a:round/>
            </a:ln>
            <a:effectLst/>
          </c:spPr>
          <c:dPt>
            <c:idx val="0"/>
            <c:bubble3D val="0"/>
            <c:spPr>
              <a:solidFill>
                <a:srgbClr val="FFB400"/>
              </a:solidFill>
              <a:effectLst/>
            </c:spPr>
            <c:extLst>
              <c:ext xmlns:c16="http://schemas.microsoft.com/office/drawing/2014/chart" uri="{C3380CC4-5D6E-409C-BE32-E72D297353CC}">
                <c16:uniqueId val="{00000001-A660-4F41-99B0-EDFAC1DE0D2D}"/>
              </c:ext>
            </c:extLst>
          </c:dPt>
          <c:dPt>
            <c:idx val="1"/>
            <c:bubble3D val="0"/>
            <c:spPr>
              <a:solidFill>
                <a:srgbClr val="3A86C8"/>
              </a:solidFill>
              <a:effectLst/>
            </c:spPr>
            <c:extLst>
              <c:ext xmlns:c16="http://schemas.microsoft.com/office/drawing/2014/chart" uri="{C3380CC4-5D6E-409C-BE32-E72D297353CC}">
                <c16:uniqueId val="{00000003-A660-4F41-99B0-EDFAC1DE0D2D}"/>
              </c:ext>
            </c:extLst>
          </c:dPt>
          <c:dPt>
            <c:idx val="2"/>
            <c:bubble3D val="0"/>
            <c:spPr>
              <a:solidFill>
                <a:srgbClr val="2E9E5B"/>
              </a:solidFill>
              <a:effectLst/>
            </c:spPr>
            <c:extLst>
              <c:ext xmlns:c16="http://schemas.microsoft.com/office/drawing/2014/chart" uri="{C3380CC4-5D6E-409C-BE32-E72D297353CC}">
                <c16:uniqueId val="{00000005-A660-4F41-99B0-EDFAC1DE0D2D}"/>
              </c:ext>
            </c:extLst>
          </c:dPt>
          <c:dLbls>
            <c:dLbl>
              <c:idx val="0"/>
              <c:numFmt formatCode="0%" sourceLinked="0"/>
              <c:spPr/>
              <c:txPr>
                <a:bodyPr/>
                <a:lstStyle/>
                <a:p>
                  <a:pPr>
                    <a:defRPr sz="13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660-4F41-99B0-EDFAC1DE0D2D}"/>
                </c:ext>
              </c:extLst>
            </c:dLbl>
            <c:dLbl>
              <c:idx val="1"/>
              <c:numFmt formatCode="0%" sourceLinked="0"/>
              <c:spPr/>
              <c:txPr>
                <a:bodyPr/>
                <a:lstStyle/>
                <a:p>
                  <a:pPr>
                    <a:defRPr sz="13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660-4F41-99B0-EDFAC1DE0D2D}"/>
                </c:ext>
              </c:extLst>
            </c:dLbl>
            <c:dLbl>
              <c:idx val="2"/>
              <c:numFmt formatCode="0%" sourceLinked="0"/>
              <c:spPr/>
              <c:txPr>
                <a:bodyPr/>
                <a:lstStyle/>
                <a:p>
                  <a:pPr>
                    <a:defRPr sz="13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660-4F41-99B0-EDFAC1DE0D2D}"/>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Cars</c:v>
                </c:pt>
                <c:pt idx="1">
                  <c:v>Buses</c:v>
                </c:pt>
                <c:pt idx="2">
                  <c:v>Motorcycles</c:v>
                </c:pt>
              </c:strCache>
            </c:strRef>
          </c:cat>
          <c:val>
            <c:numRef>
              <c:f>Sheet1!$B$2:$B$4</c:f>
              <c:numCache>
                <c:formatCode>General</c:formatCode>
                <c:ptCount val="3"/>
                <c:pt idx="0">
                  <c:v>12</c:v>
                </c:pt>
                <c:pt idx="1">
                  <c:v>4</c:v>
                </c:pt>
                <c:pt idx="2">
                  <c:v>9</c:v>
                </c:pt>
              </c:numCache>
            </c:numRef>
          </c:val>
          <c:extLst>
            <c:ext xmlns:c16="http://schemas.microsoft.com/office/drawing/2014/chart" uri="{C3380CC4-5D6E-409C-BE32-E72D297353CC}">
              <c16:uniqueId val="{00000006-A660-4F41-99B0-EDFAC1DE0D2D}"/>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4A516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1612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using a road camera image to automatically count and classify vehicles. Two problems: a scenario on how detection and classification produce a traffic report, and a numerical problem on vehicle counts and percentages.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motivation. Traffic departments need vehicle counts by type for signal timing, road planning and congestion management. Manual counting does not scale.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six-stage pipeline. Highlight stages 3 and 4 (amber) as the heart of the problem: detection localises every vehicle, classification assigns its type. Counting and reporting are simple once those are correct.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side mimics what a detector produces: a coloured box around each vehicle, a class name and a confidence score. Explain NMS (removing overlapping duplicate boxes) and, for video, object tracking with a counting line so a vehicle is counted once.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sample report built from the detections. It uses the same numbers as Problem 2, which links the two problems. Explain why each field matters to a traffic department.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 12 + 4 + 9 = 25. Motorcycle percentage = 9 / 25 × 100 = 36%. For completeness: cars are 12/25 = 48% and buses 4/25 = 16%; the three shares add to 100%, which is a quick check.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36% motorcycles is a big share, typical of Indian roads. Point out that small objects like motorcycles are harder to detect, so this percentage is only as good as the detector's recall for that class. Also stress that a single frame is a snapshot, not a traffic study.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demo using a pretrained YOLOv8 model (pip install ultralytics opencv-python). It detects vehicles, keeps only car, bus and motorcycle classes, draws boxes with OpenCV and prints counts with percentages. The output panel shows what it would print for the frame in Problem 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real-world issues. Mitigations: train on local data (Indian traffic, autorickshaws), use tracking plus a virtual counting line, add infrared or better cameras for night, and keep a human review for low-confidence frames.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both problems in one line each, give the key takeaway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371600"/>
          </a:xfrm>
          <a:prstGeom prst="rect">
            <a:avLst/>
          </a:prstGeom>
          <a:noFill/>
          <a:ln/>
        </p:spPr>
        <p:txBody>
          <a:bodyPr wrap="square" rtlCol="0"/>
          <a:lstStyle>
            <a:lvl1pPr marL="0" indent="0" algn="l">
              <a:buNone/>
              <a:defRPr lang="en-US" sz="4000" b="1" dirty="0">
                <a:solidFill>
                  <a:schemeClr val="bg1"/>
                </a:solidFill>
                <a:latin typeface="Arial" pitchFamily="34" charset="0"/>
                <a:ea typeface="Arial" pitchFamily="34" charset="-122"/>
                <a:cs typeface="Arial"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548640" y="2926080"/>
            <a:ext cx="8046720" cy="1097280"/>
          </a:xfrm>
          <a:prstGeom prst="rect">
            <a:avLst/>
          </a:prstGeom>
          <a:noFill/>
          <a:ln/>
        </p:spPr>
        <p:txBody>
          <a:bodyPr wrap="square" rtlCol="0"/>
          <a:lstStyle>
            <a:lvl1pPr marL="0" indent="0">
              <a:buNone/>
              <a:defRPr lang="en-US" sz="1600" dirty="0">
                <a:solidFill>
                  <a:schemeClr val="accent1"/>
                </a:solidFill>
                <a:latin typeface="Calibri" pitchFamily="34" charset="0"/>
                <a:ea typeface="Calibri" pitchFamily="34" charset="-122"/>
                <a:cs typeface="Calibri" pitchFamily="34" charset="-120"/>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rtlCol="0"/>
          <a:lstStyle>
            <a:lvl1pPr marL="0" indent="0" algn="l">
              <a:buNone/>
              <a:defRPr lang="en-US" sz="3000" b="1" dirty="0">
                <a:solidFill>
                  <a:schemeClr val="tx1"/>
                </a:solidFill>
                <a:latin typeface="Arial" pitchFamily="34" charset="0"/>
                <a:ea typeface="Arial" pitchFamily="34" charset="-122"/>
                <a:cs typeface="Arial" pitchFamily="34" charset="-120"/>
              </a:defRPr>
            </a:lvl1pPr>
          </a:lstStyle>
          <a:p>
            <a:pPr marL="0" indent="0" algn="l">
              <a:buNone/>
            </a:pPr>
            <a:endParaRPr lang="en-US" sz="3000" dirty="0"/>
          </a:p>
        </p:txBody>
      </p:sp>
      <p:sp>
        <p:nvSpPr>
          <p:cNvPr id="3" name="Text 0"/>
          <p:cNvSpPr/>
          <p:nvPr/>
        </p:nvSpPr>
        <p:spPr>
          <a:xfrm>
            <a:off x="457200" y="4754880"/>
            <a:ext cx="6400800" cy="274320"/>
          </a:xfrm>
          <a:prstGeom prst="rect">
            <a:avLst/>
          </a:prstGeom>
          <a:noFill/>
          <a:ln/>
        </p:spPr>
        <p:txBody>
          <a:bodyPr wrap="square" lIns="0" tIns="0" rIns="0" bIns="0" rtlCol="0" anchor="ctr"/>
          <a:lstStyle/>
          <a:p>
            <a:pPr marL="0" indent="0">
              <a:buNone/>
            </a:pPr>
            <a:r>
              <a:rPr lang="en-US" sz="900" dirty="0">
                <a:solidFill>
                  <a:schemeClr val="accent5"/>
                </a:solidFill>
              </a:rPr>
              <a:t>ITA05 Computer Vision  |  Vehicle Counting Using Computer Vision</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raffic light icon" descr="preencoded.png"/>
          <p:cNvPicPr>
            <a:picLocks noChangeAspect="1"/>
          </p:cNvPicPr>
          <p:nvPr/>
        </p:nvPicPr>
        <p:blipFill>
          <a:blip r:embed="rId3"/>
          <a:stretch>
            <a:fillRect/>
          </a:stretch>
        </p:blipFill>
        <p:spPr>
          <a:xfrm>
            <a:off x="548640" y="548640"/>
            <a:ext cx="640080" cy="640080"/>
          </a:xfrm>
          <a:prstGeom prst="rect">
            <a:avLst/>
          </a:prstGeom>
        </p:spPr>
      </p:pic>
      <p:sp>
        <p:nvSpPr>
          <p:cNvPr id="3" name="Text 0"/>
          <p:cNvSpPr>
            <a:spLocks noGrp="1"/>
          </p:cNvSpPr>
          <p:nvPr>
            <p:ph type="title" idx="100" hasCustomPrompt="1"/>
          </p:nvPr>
        </p:nvSpPr>
        <p:spPr>
          <a:xfrm>
            <a:off x="548640" y="1417320"/>
            <a:ext cx="8046720" cy="1371600"/>
          </a:xfrm>
          <a:prstGeom prst="rect">
            <a:avLst/>
          </a:prstGeom>
          <a:noFill/>
          <a:ln/>
        </p:spPr>
        <p:txBody>
          <a:bodyPr wrap="square" lIns="0" tIns="0" rIns="0" bIns="0" rtlCol="0" anchor="b"/>
          <a:lstStyle/>
          <a:p>
            <a:pPr marL="0" indent="0" algn="l">
              <a:buNone/>
            </a:pPr>
            <a:r>
              <a:rPr lang="en-US" sz="4000" b="1" dirty="0">
                <a:solidFill>
                  <a:schemeClr val="bg1"/>
                </a:solidFill>
                <a:latin typeface="Arial" pitchFamily="34" charset="0"/>
                <a:ea typeface="Arial" pitchFamily="34" charset="-122"/>
                <a:cs typeface="Arial" pitchFamily="34" charset="-120"/>
              </a:rPr>
              <a:t>Vehicle Counting Using Computer Vision</a:t>
            </a:r>
            <a:endParaRPr lang="en-US" sz="4000" dirty="0"/>
          </a:p>
        </p:txBody>
      </p:sp>
      <p:sp>
        <p:nvSpPr>
          <p:cNvPr id="4" name="Text 0"/>
          <p:cNvSpPr>
            <a:spLocks noGrp="1"/>
          </p:cNvSpPr>
          <p:nvPr>
            <p:ph type="body" idx="101" hasCustomPrompt="1"/>
          </p:nvPr>
        </p:nvSpPr>
        <p:spPr>
          <a:xfrm>
            <a:off x="548640" y="2926080"/>
            <a:ext cx="8046720" cy="1097280"/>
          </a:xfrm>
          <a:prstGeom prst="rect">
            <a:avLst/>
          </a:prstGeom>
          <a:noFill/>
          <a:ln/>
        </p:spPr>
        <p:txBody>
          <a:bodyPr wrap="square" lIns="0" tIns="0" rIns="0" bIns="0" rtlCol="0" anchor="t"/>
          <a:lstStyle/>
          <a:p>
            <a:pPr marL="0" indent="0">
              <a:buNone/>
            </a:pPr>
            <a:r>
              <a:rPr lang="en-US" sz="1600" dirty="0">
                <a:solidFill>
                  <a:schemeClr val="accent1"/>
                </a:solidFill>
                <a:latin typeface="Calibri" pitchFamily="34" charset="0"/>
                <a:ea typeface="Calibri" pitchFamily="34" charset="-122"/>
                <a:cs typeface="Calibri" pitchFamily="34" charset="-120"/>
              </a:rPr>
              <a:t>Object detection and classification for traffic reporting</a:t>
            </a:r>
            <a:endParaRPr lang="en-US" sz="1600" dirty="0"/>
          </a:p>
          <a:p>
            <a:pPr marL="0" indent="0">
              <a:buNone/>
            </a:pPr>
            <a:r>
              <a:rPr lang="en-US" sz="1200" dirty="0">
                <a:solidFill>
                  <a:schemeClr val="accent5"/>
                </a:solidFill>
                <a:latin typeface="Calibri" pitchFamily="34" charset="0"/>
                <a:ea typeface="Calibri" pitchFamily="34" charset="-122"/>
                <a:cs typeface="Calibri" pitchFamily="34" charset="-120"/>
              </a:rPr>
              <a:t>ITA05 Computer Vision  ·  CO2-AT3 Technical Presentation  ·  SIMATS Engineering</a:t>
            </a:r>
            <a:endParaRPr lang="en-US" sz="1600" dirty="0"/>
          </a:p>
        </p:txBody>
      </p:sp>
      <p:sp>
        <p:nvSpPr>
          <p:cNvPr id="5" name="title vehicle 0 circle"/>
          <p:cNvSpPr/>
          <p:nvPr/>
        </p:nvSpPr>
        <p:spPr>
          <a:xfrm>
            <a:off x="6309360" y="4069080"/>
            <a:ext cx="640080" cy="640080"/>
          </a:xfrm>
          <a:prstGeom prst="ellipse">
            <a:avLst/>
          </a:prstGeom>
          <a:solidFill>
            <a:schemeClr val="accent1"/>
          </a:solidFill>
          <a:ln w="12700">
            <a:solidFill>
              <a:schemeClr val="accent1"/>
            </a:solidFill>
            <a:prstDash val="solid"/>
          </a:ln>
        </p:spPr>
      </p:sp>
      <p:pic>
        <p:nvPicPr>
          <p:cNvPr id="6" name="title vehicle 0 icon" descr="preencoded.png"/>
          <p:cNvPicPr>
            <a:picLocks noChangeAspect="1"/>
          </p:cNvPicPr>
          <p:nvPr/>
        </p:nvPicPr>
        <p:blipFill>
          <a:blip r:embed="rId4"/>
          <a:stretch>
            <a:fillRect/>
          </a:stretch>
        </p:blipFill>
        <p:spPr>
          <a:xfrm>
            <a:off x="6469380" y="4229100"/>
            <a:ext cx="320040" cy="320040"/>
          </a:xfrm>
          <a:prstGeom prst="rect">
            <a:avLst/>
          </a:prstGeom>
        </p:spPr>
      </p:pic>
      <p:sp>
        <p:nvSpPr>
          <p:cNvPr id="7" name="title vehicle 1 circle"/>
          <p:cNvSpPr/>
          <p:nvPr/>
        </p:nvSpPr>
        <p:spPr>
          <a:xfrm>
            <a:off x="7132320" y="4069080"/>
            <a:ext cx="640080" cy="640080"/>
          </a:xfrm>
          <a:prstGeom prst="ellipse">
            <a:avLst/>
          </a:prstGeom>
          <a:solidFill>
            <a:schemeClr val="accent4"/>
          </a:solidFill>
          <a:ln w="12700">
            <a:solidFill>
              <a:schemeClr val="accent4"/>
            </a:solidFill>
            <a:prstDash val="solid"/>
          </a:ln>
        </p:spPr>
      </p:sp>
      <p:pic>
        <p:nvPicPr>
          <p:cNvPr id="8" name="title vehicle 1 icon" descr="preencoded.png"/>
          <p:cNvPicPr>
            <a:picLocks noChangeAspect="1"/>
          </p:cNvPicPr>
          <p:nvPr/>
        </p:nvPicPr>
        <p:blipFill>
          <a:blip r:embed="rId5"/>
          <a:stretch>
            <a:fillRect/>
          </a:stretch>
        </p:blipFill>
        <p:spPr>
          <a:xfrm>
            <a:off x="7292340" y="4229100"/>
            <a:ext cx="320040" cy="320040"/>
          </a:xfrm>
          <a:prstGeom prst="rect">
            <a:avLst/>
          </a:prstGeom>
        </p:spPr>
      </p:pic>
      <p:sp>
        <p:nvSpPr>
          <p:cNvPr id="9" name="title vehicle 2 circle"/>
          <p:cNvSpPr/>
          <p:nvPr/>
        </p:nvSpPr>
        <p:spPr>
          <a:xfrm>
            <a:off x="7955280" y="4069080"/>
            <a:ext cx="640080" cy="640080"/>
          </a:xfrm>
          <a:prstGeom prst="ellipse">
            <a:avLst/>
          </a:prstGeom>
          <a:solidFill>
            <a:schemeClr val="accent2"/>
          </a:solidFill>
          <a:ln w="12700">
            <a:solidFill>
              <a:schemeClr val="accent2"/>
            </a:solidFill>
            <a:prstDash val="solid"/>
          </a:ln>
        </p:spPr>
      </p:sp>
      <p:pic>
        <p:nvPicPr>
          <p:cNvPr id="10" name="title vehicle 2 icon" descr="preencoded.png"/>
          <p:cNvPicPr>
            <a:picLocks noChangeAspect="1"/>
          </p:cNvPicPr>
          <p:nvPr/>
        </p:nvPicPr>
        <p:blipFill>
          <a:blip r:embed="rId6"/>
          <a:stretch>
            <a:fillRect/>
          </a:stretch>
        </p:blipFill>
        <p:spPr>
          <a:xfrm>
            <a:off x="8115300" y="4229100"/>
            <a:ext cx="320040" cy="320040"/>
          </a:xfrm>
          <a:prstGeom prst="rect">
            <a:avLst/>
          </a:prstGeom>
        </p:spPr>
      </p:pic>
      <p:sp>
        <p:nvSpPr>
          <p:cNvPr id="11" name="TextBox 10"/>
          <p:cNvSpPr txBox="1"/>
          <p:nvPr/>
        </p:nvSpPr>
        <p:spPr>
          <a:xfrm>
            <a:off x="452176" y="3577212"/>
            <a:ext cx="4230356" cy="369332"/>
          </a:xfrm>
          <a:prstGeom prst="rect">
            <a:avLst/>
          </a:prstGeom>
          <a:noFill/>
        </p:spPr>
        <p:txBody>
          <a:bodyPr wrap="square" rtlCol="0">
            <a:spAutoFit/>
          </a:bodyPr>
          <a:lstStyle/>
          <a:p>
            <a:r>
              <a:rPr lang="en-GB" dirty="0" smtClean="0"/>
              <a:t>n</a:t>
            </a:r>
            <a:endParaRPr lang="en-IN" dirty="0"/>
          </a:p>
        </p:txBody>
      </p:sp>
      <p:sp>
        <p:nvSpPr>
          <p:cNvPr id="12" name="TextBox 11"/>
          <p:cNvSpPr txBox="1"/>
          <p:nvPr/>
        </p:nvSpPr>
        <p:spPr>
          <a:xfrm>
            <a:off x="678264" y="3595801"/>
            <a:ext cx="3778179" cy="646331"/>
          </a:xfrm>
          <a:prstGeom prst="rect">
            <a:avLst/>
          </a:prstGeom>
          <a:noFill/>
        </p:spPr>
        <p:txBody>
          <a:bodyPr wrap="square" rtlCol="0">
            <a:spAutoFit/>
          </a:bodyPr>
          <a:lstStyle/>
          <a:p>
            <a:r>
              <a:rPr lang="en-GB" dirty="0" smtClean="0">
                <a:solidFill>
                  <a:schemeClr val="accent2"/>
                </a:solidFill>
                <a:latin typeface="Times New Roman" panose="02020603050405020304" pitchFamily="18" charset="0"/>
                <a:cs typeface="Times New Roman" panose="02020603050405020304" pitchFamily="18" charset="0"/>
              </a:rPr>
              <a:t>NAME:G.MD SHAREEF</a:t>
            </a:r>
          </a:p>
          <a:p>
            <a:r>
              <a:rPr lang="en-GB" smtClean="0">
                <a:solidFill>
                  <a:schemeClr val="accent2"/>
                </a:solidFill>
                <a:latin typeface="Times New Roman" panose="02020603050405020304" pitchFamily="18" charset="0"/>
                <a:cs typeface="Times New Roman" panose="02020603050405020304" pitchFamily="18" charset="0"/>
              </a:rPr>
              <a:t>REG NO:192311288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Why Count Vehicles Automatically?</a:t>
            </a:r>
            <a:endParaRPr lang="en-US" sz="3000" dirty="0"/>
          </a:p>
        </p:txBody>
      </p:sp>
      <p:sp>
        <p:nvSpPr>
          <p:cNvPr id="3" name="Text 1"/>
          <p:cNvSpPr txBox="1"/>
          <p:nvPr/>
        </p:nvSpPr>
        <p:spPr>
          <a:xfrm>
            <a:off x="457200" y="1051560"/>
            <a:ext cx="8229600" cy="640080"/>
          </a:xfrm>
          <a:prstGeom prst="rect">
            <a:avLst/>
          </a:prstGeom>
          <a:noFill/>
          <a:ln/>
        </p:spPr>
        <p:txBody>
          <a:bodyPr wrap="square" lIns="0" tIns="0" rIns="0" bIns="0" rtlCol="0" anchor="ctr"/>
          <a:lstStyle/>
          <a:p>
            <a:pPr marL="0" indent="0">
              <a:buNone/>
            </a:pPr>
            <a:r>
              <a:rPr lang="en-US" sz="1500" dirty="0">
                <a:solidFill>
                  <a:schemeClr val="tx2"/>
                </a:solidFill>
              </a:rPr>
              <a:t>Manual counting at junctions is slow, tiring and error-prone. A camera with computer vision can count every vehicle type, all day, and feed the numbers straight into planning decisions.</a:t>
            </a:r>
            <a:endParaRPr lang="en-US" sz="1500" dirty="0"/>
          </a:p>
        </p:txBody>
      </p:sp>
      <p:sp>
        <p:nvSpPr>
          <p:cNvPr id="4" name="use card 0"/>
          <p:cNvSpPr/>
          <p:nvPr/>
        </p:nvSpPr>
        <p:spPr>
          <a:xfrm>
            <a:off x="457200" y="1920240"/>
            <a:ext cx="1920240" cy="2560320"/>
          </a:xfrm>
          <a:prstGeom prst="roundRect">
            <a:avLst>
              <a:gd name="adj" fmla="val 3810"/>
            </a:avLst>
          </a:prstGeom>
          <a:solidFill>
            <a:schemeClr val="bg2"/>
          </a:solidFill>
          <a:ln w="12700">
            <a:solidFill>
              <a:schemeClr val="bg2"/>
            </a:solidFill>
            <a:prstDash val="solid"/>
          </a:ln>
        </p:spPr>
      </p:sp>
      <p:sp>
        <p:nvSpPr>
          <p:cNvPr id="5" name="use 0 circle"/>
          <p:cNvSpPr/>
          <p:nvPr/>
        </p:nvSpPr>
        <p:spPr>
          <a:xfrm>
            <a:off x="640080" y="2103120"/>
            <a:ext cx="640080" cy="640080"/>
          </a:xfrm>
          <a:prstGeom prst="ellipse">
            <a:avLst/>
          </a:prstGeom>
          <a:solidFill>
            <a:schemeClr val="accent1"/>
          </a:solidFill>
          <a:ln w="12700">
            <a:solidFill>
              <a:schemeClr val="accent1"/>
            </a:solidFill>
            <a:prstDash val="solid"/>
          </a:ln>
        </p:spPr>
      </p:sp>
      <p:pic>
        <p:nvPicPr>
          <p:cNvPr id="6" name="use 0 icon" descr="preencoded.png"/>
          <p:cNvPicPr>
            <a:picLocks noChangeAspect="1"/>
          </p:cNvPicPr>
          <p:nvPr/>
        </p:nvPicPr>
        <p:blipFill>
          <a:blip r:embed="rId3"/>
          <a:stretch>
            <a:fillRect/>
          </a:stretch>
        </p:blipFill>
        <p:spPr>
          <a:xfrm>
            <a:off x="800100" y="2263140"/>
            <a:ext cx="320040" cy="320040"/>
          </a:xfrm>
          <a:prstGeom prst="rect">
            <a:avLst/>
          </a:prstGeom>
        </p:spPr>
      </p:pic>
      <p:sp>
        <p:nvSpPr>
          <p:cNvPr id="7" name="Text 4"/>
          <p:cNvSpPr txBox="1"/>
          <p:nvPr/>
        </p:nvSpPr>
        <p:spPr>
          <a:xfrm>
            <a:off x="640080" y="2880360"/>
            <a:ext cx="1600200" cy="365760"/>
          </a:xfrm>
          <a:prstGeom prst="rect">
            <a:avLst/>
          </a:prstGeom>
          <a:noFill/>
          <a:ln/>
        </p:spPr>
        <p:txBody>
          <a:bodyPr wrap="square" lIns="0" tIns="0" rIns="0" bIns="0" rtlCol="0" anchor="ctr"/>
          <a:lstStyle/>
          <a:p>
            <a:pPr marL="0" indent="0">
              <a:buNone/>
            </a:pPr>
            <a:r>
              <a:rPr lang="en-US" sz="1600" b="1" dirty="0">
                <a:solidFill>
                  <a:schemeClr val="tx1"/>
                </a:solidFill>
              </a:rPr>
              <a:t>Signal timing</a:t>
            </a:r>
            <a:endParaRPr lang="en-US" sz="1600" dirty="0"/>
          </a:p>
        </p:txBody>
      </p:sp>
      <p:sp>
        <p:nvSpPr>
          <p:cNvPr id="8" name="Text 5"/>
          <p:cNvSpPr txBox="1"/>
          <p:nvPr/>
        </p:nvSpPr>
        <p:spPr>
          <a:xfrm>
            <a:off x="640080" y="3291840"/>
            <a:ext cx="1600200" cy="1051560"/>
          </a:xfrm>
          <a:prstGeom prst="rect">
            <a:avLst/>
          </a:prstGeom>
          <a:noFill/>
          <a:ln/>
        </p:spPr>
        <p:txBody>
          <a:bodyPr wrap="square" lIns="0" tIns="0" rIns="0" bIns="0" rtlCol="0" anchor="t"/>
          <a:lstStyle/>
          <a:p>
            <a:pPr marL="0" indent="0">
              <a:buNone/>
            </a:pPr>
            <a:r>
              <a:rPr lang="en-US" sz="1300" dirty="0">
                <a:solidFill>
                  <a:schemeClr val="tx2"/>
                </a:solidFill>
              </a:rPr>
              <a:t>Adjust green-light duration using real traffic volume per lane.</a:t>
            </a:r>
            <a:endParaRPr lang="en-US" sz="1300" dirty="0"/>
          </a:p>
        </p:txBody>
      </p:sp>
      <p:sp>
        <p:nvSpPr>
          <p:cNvPr id="9" name="use card 1"/>
          <p:cNvSpPr/>
          <p:nvPr/>
        </p:nvSpPr>
        <p:spPr>
          <a:xfrm>
            <a:off x="2560320" y="1920240"/>
            <a:ext cx="1920240" cy="2560320"/>
          </a:xfrm>
          <a:prstGeom prst="roundRect">
            <a:avLst>
              <a:gd name="adj" fmla="val 3810"/>
            </a:avLst>
          </a:prstGeom>
          <a:solidFill>
            <a:schemeClr val="bg2"/>
          </a:solidFill>
          <a:ln w="12700">
            <a:solidFill>
              <a:schemeClr val="bg2"/>
            </a:solidFill>
            <a:prstDash val="solid"/>
          </a:ln>
        </p:spPr>
      </p:sp>
      <p:sp>
        <p:nvSpPr>
          <p:cNvPr id="10" name="use 1 circle"/>
          <p:cNvSpPr/>
          <p:nvPr/>
        </p:nvSpPr>
        <p:spPr>
          <a:xfrm>
            <a:off x="2743200" y="2103120"/>
            <a:ext cx="640080" cy="640080"/>
          </a:xfrm>
          <a:prstGeom prst="ellipse">
            <a:avLst/>
          </a:prstGeom>
          <a:solidFill>
            <a:schemeClr val="accent4"/>
          </a:solidFill>
          <a:ln w="12700">
            <a:solidFill>
              <a:schemeClr val="accent4"/>
            </a:solidFill>
            <a:prstDash val="solid"/>
          </a:ln>
        </p:spPr>
      </p:sp>
      <p:pic>
        <p:nvPicPr>
          <p:cNvPr id="11" name="use 1 icon" descr="preencoded.png"/>
          <p:cNvPicPr>
            <a:picLocks noChangeAspect="1"/>
          </p:cNvPicPr>
          <p:nvPr/>
        </p:nvPicPr>
        <p:blipFill>
          <a:blip r:embed="rId4"/>
          <a:stretch>
            <a:fillRect/>
          </a:stretch>
        </p:blipFill>
        <p:spPr>
          <a:xfrm>
            <a:off x="2903220" y="2263140"/>
            <a:ext cx="320040" cy="320040"/>
          </a:xfrm>
          <a:prstGeom prst="rect">
            <a:avLst/>
          </a:prstGeom>
        </p:spPr>
      </p:pic>
      <p:sp>
        <p:nvSpPr>
          <p:cNvPr id="12" name="Text 8"/>
          <p:cNvSpPr txBox="1"/>
          <p:nvPr/>
        </p:nvSpPr>
        <p:spPr>
          <a:xfrm>
            <a:off x="2743200" y="2880360"/>
            <a:ext cx="1600200" cy="365760"/>
          </a:xfrm>
          <a:prstGeom prst="rect">
            <a:avLst/>
          </a:prstGeom>
          <a:noFill/>
          <a:ln/>
        </p:spPr>
        <p:txBody>
          <a:bodyPr wrap="square" lIns="0" tIns="0" rIns="0" bIns="0" rtlCol="0" anchor="ctr"/>
          <a:lstStyle/>
          <a:p>
            <a:pPr marL="0" indent="0">
              <a:buNone/>
            </a:pPr>
            <a:r>
              <a:rPr lang="en-US" sz="1600" b="1" dirty="0">
                <a:solidFill>
                  <a:schemeClr val="tx1"/>
                </a:solidFill>
              </a:rPr>
              <a:t>Road planning</a:t>
            </a:r>
            <a:endParaRPr lang="en-US" sz="1600" dirty="0"/>
          </a:p>
        </p:txBody>
      </p:sp>
      <p:sp>
        <p:nvSpPr>
          <p:cNvPr id="13" name="Text 9"/>
          <p:cNvSpPr txBox="1"/>
          <p:nvPr/>
        </p:nvSpPr>
        <p:spPr>
          <a:xfrm>
            <a:off x="2743200" y="3291840"/>
            <a:ext cx="1600200" cy="1051560"/>
          </a:xfrm>
          <a:prstGeom prst="rect">
            <a:avLst/>
          </a:prstGeom>
          <a:noFill/>
          <a:ln/>
        </p:spPr>
        <p:txBody>
          <a:bodyPr wrap="square" lIns="0" tIns="0" rIns="0" bIns="0" rtlCol="0" anchor="t"/>
          <a:lstStyle/>
          <a:p>
            <a:pPr marL="0" indent="0">
              <a:buNone/>
            </a:pPr>
            <a:r>
              <a:rPr lang="en-US" sz="1300" dirty="0">
                <a:solidFill>
                  <a:schemeClr val="tx2"/>
                </a:solidFill>
              </a:rPr>
              <a:t>Decide where to widen roads or add bus lanes from long-term counts.</a:t>
            </a:r>
            <a:endParaRPr lang="en-US" sz="1300" dirty="0"/>
          </a:p>
        </p:txBody>
      </p:sp>
      <p:sp>
        <p:nvSpPr>
          <p:cNvPr id="14" name="use card 2"/>
          <p:cNvSpPr/>
          <p:nvPr/>
        </p:nvSpPr>
        <p:spPr>
          <a:xfrm>
            <a:off x="4663440" y="1920240"/>
            <a:ext cx="1920240" cy="2560320"/>
          </a:xfrm>
          <a:prstGeom prst="roundRect">
            <a:avLst>
              <a:gd name="adj" fmla="val 3810"/>
            </a:avLst>
          </a:prstGeom>
          <a:solidFill>
            <a:schemeClr val="bg2"/>
          </a:solidFill>
          <a:ln w="12700">
            <a:solidFill>
              <a:schemeClr val="bg2"/>
            </a:solidFill>
            <a:prstDash val="solid"/>
          </a:ln>
        </p:spPr>
      </p:sp>
      <p:sp>
        <p:nvSpPr>
          <p:cNvPr id="15" name="use 2 circle"/>
          <p:cNvSpPr/>
          <p:nvPr/>
        </p:nvSpPr>
        <p:spPr>
          <a:xfrm>
            <a:off x="4846320" y="2103120"/>
            <a:ext cx="640080" cy="640080"/>
          </a:xfrm>
          <a:prstGeom prst="ellipse">
            <a:avLst/>
          </a:prstGeom>
          <a:solidFill>
            <a:schemeClr val="accent2"/>
          </a:solidFill>
          <a:ln w="12700">
            <a:solidFill>
              <a:schemeClr val="accent2"/>
            </a:solidFill>
            <a:prstDash val="solid"/>
          </a:ln>
        </p:spPr>
      </p:sp>
      <p:pic>
        <p:nvPicPr>
          <p:cNvPr id="16" name="use 2 icon" descr="preencoded.png"/>
          <p:cNvPicPr>
            <a:picLocks noChangeAspect="1"/>
          </p:cNvPicPr>
          <p:nvPr/>
        </p:nvPicPr>
        <p:blipFill>
          <a:blip r:embed="rId5"/>
          <a:stretch>
            <a:fillRect/>
          </a:stretch>
        </p:blipFill>
        <p:spPr>
          <a:xfrm>
            <a:off x="5006340" y="2263140"/>
            <a:ext cx="320040" cy="320040"/>
          </a:xfrm>
          <a:prstGeom prst="rect">
            <a:avLst/>
          </a:prstGeom>
        </p:spPr>
      </p:pic>
      <p:sp>
        <p:nvSpPr>
          <p:cNvPr id="17" name="Text 12"/>
          <p:cNvSpPr txBox="1"/>
          <p:nvPr/>
        </p:nvSpPr>
        <p:spPr>
          <a:xfrm>
            <a:off x="4846320" y="2880360"/>
            <a:ext cx="1600200" cy="365760"/>
          </a:xfrm>
          <a:prstGeom prst="rect">
            <a:avLst/>
          </a:prstGeom>
          <a:noFill/>
          <a:ln/>
        </p:spPr>
        <p:txBody>
          <a:bodyPr wrap="square" lIns="0" tIns="0" rIns="0" bIns="0" rtlCol="0" anchor="ctr"/>
          <a:lstStyle/>
          <a:p>
            <a:pPr marL="0" indent="0">
              <a:buNone/>
            </a:pPr>
            <a:r>
              <a:rPr lang="en-US" sz="1600" b="1" dirty="0">
                <a:solidFill>
                  <a:schemeClr val="tx1"/>
                </a:solidFill>
              </a:rPr>
              <a:t>Vehicle mix</a:t>
            </a:r>
            <a:endParaRPr lang="en-US" sz="1600" dirty="0"/>
          </a:p>
        </p:txBody>
      </p:sp>
      <p:sp>
        <p:nvSpPr>
          <p:cNvPr id="18" name="Text 13"/>
          <p:cNvSpPr txBox="1"/>
          <p:nvPr/>
        </p:nvSpPr>
        <p:spPr>
          <a:xfrm>
            <a:off x="4846320" y="3291840"/>
            <a:ext cx="1600200" cy="1051560"/>
          </a:xfrm>
          <a:prstGeom prst="rect">
            <a:avLst/>
          </a:prstGeom>
          <a:noFill/>
          <a:ln/>
        </p:spPr>
        <p:txBody>
          <a:bodyPr wrap="square" lIns="0" tIns="0" rIns="0" bIns="0" rtlCol="0" anchor="t"/>
          <a:lstStyle/>
          <a:p>
            <a:pPr marL="0" indent="0">
              <a:buNone/>
            </a:pPr>
            <a:r>
              <a:rPr lang="en-US" sz="1300" dirty="0">
                <a:solidFill>
                  <a:schemeClr val="tx2"/>
                </a:solidFill>
              </a:rPr>
              <a:t>Know the share of cars, buses and two-wheelers on each road.</a:t>
            </a:r>
            <a:endParaRPr lang="en-US" sz="1300" dirty="0"/>
          </a:p>
        </p:txBody>
      </p:sp>
      <p:sp>
        <p:nvSpPr>
          <p:cNvPr id="19" name="use card 3"/>
          <p:cNvSpPr/>
          <p:nvPr/>
        </p:nvSpPr>
        <p:spPr>
          <a:xfrm>
            <a:off x="6766560" y="1920240"/>
            <a:ext cx="1920240" cy="2560320"/>
          </a:xfrm>
          <a:prstGeom prst="roundRect">
            <a:avLst>
              <a:gd name="adj" fmla="val 3810"/>
            </a:avLst>
          </a:prstGeom>
          <a:solidFill>
            <a:schemeClr val="bg2"/>
          </a:solidFill>
          <a:ln w="12700">
            <a:solidFill>
              <a:schemeClr val="bg2"/>
            </a:solidFill>
            <a:prstDash val="solid"/>
          </a:ln>
        </p:spPr>
      </p:sp>
      <p:sp>
        <p:nvSpPr>
          <p:cNvPr id="20" name="use 3 circle"/>
          <p:cNvSpPr/>
          <p:nvPr/>
        </p:nvSpPr>
        <p:spPr>
          <a:xfrm>
            <a:off x="6949440" y="2103120"/>
            <a:ext cx="640080" cy="640080"/>
          </a:xfrm>
          <a:prstGeom prst="ellipse">
            <a:avLst/>
          </a:prstGeom>
          <a:solidFill>
            <a:schemeClr val="accent3"/>
          </a:solidFill>
          <a:ln w="12700">
            <a:solidFill>
              <a:schemeClr val="accent3"/>
            </a:solidFill>
            <a:prstDash val="solid"/>
          </a:ln>
        </p:spPr>
      </p:sp>
      <p:pic>
        <p:nvPicPr>
          <p:cNvPr id="21" name="use 3 icon" descr="preencoded.png"/>
          <p:cNvPicPr>
            <a:picLocks noChangeAspect="1"/>
          </p:cNvPicPr>
          <p:nvPr/>
        </p:nvPicPr>
        <p:blipFill>
          <a:blip r:embed="rId6"/>
          <a:stretch>
            <a:fillRect/>
          </a:stretch>
        </p:blipFill>
        <p:spPr>
          <a:xfrm>
            <a:off x="7109460" y="2263140"/>
            <a:ext cx="320040" cy="320040"/>
          </a:xfrm>
          <a:prstGeom prst="rect">
            <a:avLst/>
          </a:prstGeom>
        </p:spPr>
      </p:pic>
      <p:sp>
        <p:nvSpPr>
          <p:cNvPr id="22" name="Text 16"/>
          <p:cNvSpPr txBox="1"/>
          <p:nvPr/>
        </p:nvSpPr>
        <p:spPr>
          <a:xfrm>
            <a:off x="6949440" y="2880360"/>
            <a:ext cx="1600200" cy="365760"/>
          </a:xfrm>
          <a:prstGeom prst="rect">
            <a:avLst/>
          </a:prstGeom>
          <a:noFill/>
          <a:ln/>
        </p:spPr>
        <p:txBody>
          <a:bodyPr wrap="square" lIns="0" tIns="0" rIns="0" bIns="0" rtlCol="0" anchor="ctr"/>
          <a:lstStyle/>
          <a:p>
            <a:pPr marL="0" indent="0">
              <a:buNone/>
            </a:pPr>
            <a:r>
              <a:rPr lang="en-US" sz="1600" b="1" dirty="0">
                <a:solidFill>
                  <a:schemeClr val="tx1"/>
                </a:solidFill>
              </a:rPr>
              <a:t>Congestion alerts</a:t>
            </a:r>
            <a:endParaRPr lang="en-US" sz="1600" dirty="0"/>
          </a:p>
        </p:txBody>
      </p:sp>
      <p:sp>
        <p:nvSpPr>
          <p:cNvPr id="23" name="Text 17"/>
          <p:cNvSpPr txBox="1"/>
          <p:nvPr/>
        </p:nvSpPr>
        <p:spPr>
          <a:xfrm>
            <a:off x="6949440" y="3291840"/>
            <a:ext cx="1600200" cy="1051560"/>
          </a:xfrm>
          <a:prstGeom prst="rect">
            <a:avLst/>
          </a:prstGeom>
          <a:noFill/>
          <a:ln/>
        </p:spPr>
        <p:txBody>
          <a:bodyPr wrap="square" lIns="0" tIns="0" rIns="0" bIns="0" rtlCol="0" anchor="t"/>
          <a:lstStyle/>
          <a:p>
            <a:pPr marL="0" indent="0">
              <a:buNone/>
            </a:pPr>
            <a:r>
              <a:rPr lang="en-US" sz="1300" dirty="0">
                <a:solidFill>
                  <a:schemeClr val="tx2"/>
                </a:solidFill>
              </a:rPr>
              <a:t>Spot unusual build-ups early and alert traffic police.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Problem 1: From Image to Traffic Report</a:t>
            </a:r>
            <a:endParaRPr lang="en-US" sz="3000" dirty="0"/>
          </a:p>
        </p:txBody>
      </p:sp>
      <p:sp>
        <p:nvSpPr>
          <p:cNvPr id="3" name="Text 1"/>
          <p:cNvSpPr txBox="1"/>
          <p:nvPr/>
        </p:nvSpPr>
        <p:spPr>
          <a:xfrm>
            <a:off x="457200" y="1005840"/>
            <a:ext cx="8229600" cy="411480"/>
          </a:xfrm>
          <a:prstGeom prst="rect">
            <a:avLst/>
          </a:prstGeom>
          <a:noFill/>
          <a:ln/>
        </p:spPr>
        <p:txBody>
          <a:bodyPr wrap="square" lIns="0" tIns="0" rIns="0" bIns="0" rtlCol="0" anchor="ctr"/>
          <a:lstStyle/>
          <a:p>
            <a:pPr marL="0" indent="0">
              <a:buNone/>
            </a:pPr>
            <a:r>
              <a:rPr lang="en-US" sz="1400" i="1" dirty="0">
                <a:solidFill>
                  <a:schemeClr val="tx2"/>
                </a:solidFill>
              </a:rPr>
              <a:t>Scenario: a traffic department needs separate counts of cars, buses and motorcycles from a road-camera image.</a:t>
            </a:r>
            <a:endParaRPr lang="en-US" sz="1400" dirty="0"/>
          </a:p>
        </p:txBody>
      </p:sp>
      <p:sp>
        <p:nvSpPr>
          <p:cNvPr id="4" name="step 0 circle"/>
          <p:cNvSpPr/>
          <p:nvPr/>
        </p:nvSpPr>
        <p:spPr>
          <a:xfrm>
            <a:off x="777240" y="1737360"/>
            <a:ext cx="685800" cy="685800"/>
          </a:xfrm>
          <a:prstGeom prst="ellipse">
            <a:avLst/>
          </a:prstGeom>
          <a:solidFill>
            <a:schemeClr val="accent6"/>
          </a:solidFill>
          <a:ln w="12700">
            <a:solidFill>
              <a:schemeClr val="accent6"/>
            </a:solidFill>
            <a:prstDash val="solid"/>
          </a:ln>
        </p:spPr>
      </p:sp>
      <p:pic>
        <p:nvPicPr>
          <p:cNvPr id="5" name="step 0 icon" descr="preencoded.png"/>
          <p:cNvPicPr>
            <a:picLocks noChangeAspect="1"/>
          </p:cNvPicPr>
          <p:nvPr/>
        </p:nvPicPr>
        <p:blipFill>
          <a:blip r:embed="rId3"/>
          <a:stretch>
            <a:fillRect/>
          </a:stretch>
        </p:blipFill>
        <p:spPr>
          <a:xfrm>
            <a:off x="948690" y="1908810"/>
            <a:ext cx="342900" cy="342900"/>
          </a:xfrm>
          <a:prstGeom prst="rect">
            <a:avLst/>
          </a:prstGeom>
        </p:spPr>
      </p:pic>
      <p:sp>
        <p:nvSpPr>
          <p:cNvPr id="6" name="arrow 0"/>
          <p:cNvSpPr/>
          <p:nvPr/>
        </p:nvSpPr>
        <p:spPr>
          <a:xfrm>
            <a:off x="1554480" y="1993392"/>
            <a:ext cx="320040" cy="182880"/>
          </a:xfrm>
          <a:prstGeom prst="rightArrow">
            <a:avLst/>
          </a:prstGeom>
          <a:solidFill>
            <a:schemeClr val="accent5"/>
          </a:solidFill>
          <a:ln w="12700">
            <a:solidFill>
              <a:schemeClr val="accent5"/>
            </a:solidFill>
            <a:prstDash val="solid"/>
          </a:ln>
        </p:spPr>
      </p:sp>
      <p:sp>
        <p:nvSpPr>
          <p:cNvPr id="7" name="Text 4"/>
          <p:cNvSpPr txBox="1"/>
          <p:nvPr/>
        </p:nvSpPr>
        <p:spPr>
          <a:xfrm>
            <a:off x="457200" y="2560320"/>
            <a:ext cx="1325880" cy="320040"/>
          </a:xfrm>
          <a:prstGeom prst="rect">
            <a:avLst/>
          </a:prstGeom>
          <a:noFill/>
          <a:ln/>
        </p:spPr>
        <p:txBody>
          <a:bodyPr wrap="square" lIns="0" tIns="0" rIns="0" bIns="0" rtlCol="0" anchor="ctr"/>
          <a:lstStyle/>
          <a:p>
            <a:pPr marL="0" indent="0" algn="ctr">
              <a:buNone/>
            </a:pPr>
            <a:r>
              <a:rPr lang="en-US" sz="1400" b="1" dirty="0">
                <a:solidFill>
                  <a:schemeClr val="tx1"/>
                </a:solidFill>
              </a:rPr>
              <a:t>1. Capture</a:t>
            </a:r>
            <a:endParaRPr lang="en-US" sz="1400" dirty="0"/>
          </a:p>
        </p:txBody>
      </p:sp>
      <p:sp>
        <p:nvSpPr>
          <p:cNvPr id="8" name="Text 5"/>
          <p:cNvSpPr txBox="1"/>
          <p:nvPr/>
        </p:nvSpPr>
        <p:spPr>
          <a:xfrm>
            <a:off x="457200" y="2880360"/>
            <a:ext cx="1325880" cy="685800"/>
          </a:xfrm>
          <a:prstGeom prst="rect">
            <a:avLst/>
          </a:prstGeom>
          <a:noFill/>
          <a:ln/>
        </p:spPr>
        <p:txBody>
          <a:bodyPr wrap="square" lIns="0" tIns="0" rIns="0" bIns="0" rtlCol="0" anchor="t"/>
          <a:lstStyle/>
          <a:p>
            <a:pPr marL="0" indent="0" algn="ctr">
              <a:buNone/>
            </a:pPr>
            <a:r>
              <a:rPr lang="en-US" sz="1200" dirty="0">
                <a:solidFill>
                  <a:schemeClr val="tx2"/>
                </a:solidFill>
              </a:rPr>
              <a:t>Road camera grabs a frame</a:t>
            </a:r>
            <a:endParaRPr lang="en-US" sz="1200" dirty="0"/>
          </a:p>
        </p:txBody>
      </p:sp>
      <p:sp>
        <p:nvSpPr>
          <p:cNvPr id="9" name="step 1 circle"/>
          <p:cNvSpPr/>
          <p:nvPr/>
        </p:nvSpPr>
        <p:spPr>
          <a:xfrm>
            <a:off x="2176272" y="1737360"/>
            <a:ext cx="685800" cy="685800"/>
          </a:xfrm>
          <a:prstGeom prst="ellipse">
            <a:avLst/>
          </a:prstGeom>
          <a:solidFill>
            <a:schemeClr val="accent6"/>
          </a:solidFill>
          <a:ln w="12700">
            <a:solidFill>
              <a:schemeClr val="accent6"/>
            </a:solidFill>
            <a:prstDash val="solid"/>
          </a:ln>
        </p:spPr>
      </p:sp>
      <p:pic>
        <p:nvPicPr>
          <p:cNvPr id="10" name="step 1 icon" descr="preencoded.png"/>
          <p:cNvPicPr>
            <a:picLocks noChangeAspect="1"/>
          </p:cNvPicPr>
          <p:nvPr/>
        </p:nvPicPr>
        <p:blipFill>
          <a:blip r:embed="rId4"/>
          <a:stretch>
            <a:fillRect/>
          </a:stretch>
        </p:blipFill>
        <p:spPr>
          <a:xfrm>
            <a:off x="2347722" y="1908810"/>
            <a:ext cx="342900" cy="342900"/>
          </a:xfrm>
          <a:prstGeom prst="rect">
            <a:avLst/>
          </a:prstGeom>
        </p:spPr>
      </p:pic>
      <p:sp>
        <p:nvSpPr>
          <p:cNvPr id="11" name="arrow 1"/>
          <p:cNvSpPr/>
          <p:nvPr/>
        </p:nvSpPr>
        <p:spPr>
          <a:xfrm>
            <a:off x="2953512" y="1993392"/>
            <a:ext cx="320040" cy="182880"/>
          </a:xfrm>
          <a:prstGeom prst="rightArrow">
            <a:avLst/>
          </a:prstGeom>
          <a:solidFill>
            <a:schemeClr val="accent5"/>
          </a:solidFill>
          <a:ln w="12700">
            <a:solidFill>
              <a:schemeClr val="accent5"/>
            </a:solidFill>
            <a:prstDash val="solid"/>
          </a:ln>
        </p:spPr>
      </p:sp>
      <p:sp>
        <p:nvSpPr>
          <p:cNvPr id="12" name="Text 8"/>
          <p:cNvSpPr txBox="1"/>
          <p:nvPr/>
        </p:nvSpPr>
        <p:spPr>
          <a:xfrm>
            <a:off x="1856232" y="2560320"/>
            <a:ext cx="1325880" cy="320040"/>
          </a:xfrm>
          <a:prstGeom prst="rect">
            <a:avLst/>
          </a:prstGeom>
          <a:noFill/>
          <a:ln/>
        </p:spPr>
        <p:txBody>
          <a:bodyPr wrap="square" lIns="0" tIns="0" rIns="0" bIns="0" rtlCol="0" anchor="ctr"/>
          <a:lstStyle/>
          <a:p>
            <a:pPr marL="0" indent="0" algn="ctr">
              <a:buNone/>
            </a:pPr>
            <a:r>
              <a:rPr lang="en-US" sz="1400" b="1" dirty="0">
                <a:solidFill>
                  <a:schemeClr val="tx1"/>
                </a:solidFill>
              </a:rPr>
              <a:t>2. Preprocess</a:t>
            </a:r>
            <a:endParaRPr lang="en-US" sz="1400" dirty="0"/>
          </a:p>
        </p:txBody>
      </p:sp>
      <p:sp>
        <p:nvSpPr>
          <p:cNvPr id="13" name="Text 9"/>
          <p:cNvSpPr txBox="1"/>
          <p:nvPr/>
        </p:nvSpPr>
        <p:spPr>
          <a:xfrm>
            <a:off x="1856232" y="2880360"/>
            <a:ext cx="1325880" cy="685800"/>
          </a:xfrm>
          <a:prstGeom prst="rect">
            <a:avLst/>
          </a:prstGeom>
          <a:noFill/>
          <a:ln/>
        </p:spPr>
        <p:txBody>
          <a:bodyPr wrap="square" lIns="0" tIns="0" rIns="0" bIns="0" rtlCol="0" anchor="t"/>
          <a:lstStyle/>
          <a:p>
            <a:pPr marL="0" indent="0" algn="ctr">
              <a:buNone/>
            </a:pPr>
            <a:r>
              <a:rPr lang="en-US" sz="1200" dirty="0">
                <a:solidFill>
                  <a:schemeClr val="tx2"/>
                </a:solidFill>
              </a:rPr>
              <a:t>Resize, normalise, reduce noise</a:t>
            </a:r>
            <a:endParaRPr lang="en-US" sz="1200" dirty="0"/>
          </a:p>
        </p:txBody>
      </p:sp>
      <p:sp>
        <p:nvSpPr>
          <p:cNvPr id="14" name="step 2 circle"/>
          <p:cNvSpPr/>
          <p:nvPr/>
        </p:nvSpPr>
        <p:spPr>
          <a:xfrm>
            <a:off x="3575304" y="1737360"/>
            <a:ext cx="685800" cy="685800"/>
          </a:xfrm>
          <a:prstGeom prst="ellipse">
            <a:avLst/>
          </a:prstGeom>
          <a:solidFill>
            <a:schemeClr val="accent1"/>
          </a:solidFill>
          <a:ln w="12700">
            <a:solidFill>
              <a:schemeClr val="accent1"/>
            </a:solidFill>
            <a:prstDash val="solid"/>
          </a:ln>
        </p:spPr>
      </p:sp>
      <p:pic>
        <p:nvPicPr>
          <p:cNvPr id="15" name="step 2 icon" descr="preencoded.png"/>
          <p:cNvPicPr>
            <a:picLocks noChangeAspect="1"/>
          </p:cNvPicPr>
          <p:nvPr/>
        </p:nvPicPr>
        <p:blipFill>
          <a:blip r:embed="rId5"/>
          <a:stretch>
            <a:fillRect/>
          </a:stretch>
        </p:blipFill>
        <p:spPr>
          <a:xfrm>
            <a:off x="3746754" y="1908810"/>
            <a:ext cx="342900" cy="342900"/>
          </a:xfrm>
          <a:prstGeom prst="rect">
            <a:avLst/>
          </a:prstGeom>
        </p:spPr>
      </p:pic>
      <p:sp>
        <p:nvSpPr>
          <p:cNvPr id="16" name="arrow 2"/>
          <p:cNvSpPr/>
          <p:nvPr/>
        </p:nvSpPr>
        <p:spPr>
          <a:xfrm>
            <a:off x="4352544" y="1993392"/>
            <a:ext cx="320040" cy="182880"/>
          </a:xfrm>
          <a:prstGeom prst="rightArrow">
            <a:avLst/>
          </a:prstGeom>
          <a:solidFill>
            <a:schemeClr val="accent5"/>
          </a:solidFill>
          <a:ln w="12700">
            <a:solidFill>
              <a:schemeClr val="accent5"/>
            </a:solidFill>
            <a:prstDash val="solid"/>
          </a:ln>
        </p:spPr>
      </p:sp>
      <p:sp>
        <p:nvSpPr>
          <p:cNvPr id="17" name="Text 12"/>
          <p:cNvSpPr txBox="1"/>
          <p:nvPr/>
        </p:nvSpPr>
        <p:spPr>
          <a:xfrm>
            <a:off x="3255264" y="2560320"/>
            <a:ext cx="1325880" cy="320040"/>
          </a:xfrm>
          <a:prstGeom prst="rect">
            <a:avLst/>
          </a:prstGeom>
          <a:noFill/>
          <a:ln/>
        </p:spPr>
        <p:txBody>
          <a:bodyPr wrap="square" lIns="0" tIns="0" rIns="0" bIns="0" rtlCol="0" anchor="ctr"/>
          <a:lstStyle/>
          <a:p>
            <a:pPr marL="0" indent="0" algn="ctr">
              <a:buNone/>
            </a:pPr>
            <a:r>
              <a:rPr lang="en-US" sz="1400" b="1" dirty="0">
                <a:solidFill>
                  <a:schemeClr val="tx1"/>
                </a:solidFill>
              </a:rPr>
              <a:t>3. Detect</a:t>
            </a:r>
            <a:endParaRPr lang="en-US" sz="1400" dirty="0"/>
          </a:p>
        </p:txBody>
      </p:sp>
      <p:sp>
        <p:nvSpPr>
          <p:cNvPr id="18" name="Text 13"/>
          <p:cNvSpPr txBox="1"/>
          <p:nvPr/>
        </p:nvSpPr>
        <p:spPr>
          <a:xfrm>
            <a:off x="3255264" y="2880360"/>
            <a:ext cx="1325880" cy="685800"/>
          </a:xfrm>
          <a:prstGeom prst="rect">
            <a:avLst/>
          </a:prstGeom>
          <a:noFill/>
          <a:ln/>
        </p:spPr>
        <p:txBody>
          <a:bodyPr wrap="square" lIns="0" tIns="0" rIns="0" bIns="0" rtlCol="0" anchor="t"/>
          <a:lstStyle/>
          <a:p>
            <a:pPr marL="0" indent="0" algn="ctr">
              <a:buNone/>
            </a:pPr>
            <a:r>
              <a:rPr lang="en-US" sz="1200" dirty="0">
                <a:solidFill>
                  <a:schemeClr val="tx2"/>
                </a:solidFill>
              </a:rPr>
              <a:t>Find each vehicle; draw a bounding box</a:t>
            </a:r>
            <a:endParaRPr lang="en-US" sz="1200" dirty="0"/>
          </a:p>
        </p:txBody>
      </p:sp>
      <p:sp>
        <p:nvSpPr>
          <p:cNvPr id="19" name="step 3 circle"/>
          <p:cNvSpPr/>
          <p:nvPr/>
        </p:nvSpPr>
        <p:spPr>
          <a:xfrm>
            <a:off x="4974336" y="1737360"/>
            <a:ext cx="685800" cy="685800"/>
          </a:xfrm>
          <a:prstGeom prst="ellipse">
            <a:avLst/>
          </a:prstGeom>
          <a:solidFill>
            <a:schemeClr val="accent1"/>
          </a:solidFill>
          <a:ln w="12700">
            <a:solidFill>
              <a:schemeClr val="accent1"/>
            </a:solidFill>
            <a:prstDash val="solid"/>
          </a:ln>
        </p:spPr>
      </p:sp>
      <p:pic>
        <p:nvPicPr>
          <p:cNvPr id="20" name="step 3 icon" descr="preencoded.png"/>
          <p:cNvPicPr>
            <a:picLocks noChangeAspect="1"/>
          </p:cNvPicPr>
          <p:nvPr/>
        </p:nvPicPr>
        <p:blipFill>
          <a:blip r:embed="rId6"/>
          <a:stretch>
            <a:fillRect/>
          </a:stretch>
        </p:blipFill>
        <p:spPr>
          <a:xfrm>
            <a:off x="5145786" y="1908810"/>
            <a:ext cx="342900" cy="342900"/>
          </a:xfrm>
          <a:prstGeom prst="rect">
            <a:avLst/>
          </a:prstGeom>
        </p:spPr>
      </p:pic>
      <p:sp>
        <p:nvSpPr>
          <p:cNvPr id="21" name="arrow 3"/>
          <p:cNvSpPr/>
          <p:nvPr/>
        </p:nvSpPr>
        <p:spPr>
          <a:xfrm>
            <a:off x="5751576" y="1993392"/>
            <a:ext cx="320040" cy="182880"/>
          </a:xfrm>
          <a:prstGeom prst="rightArrow">
            <a:avLst/>
          </a:prstGeom>
          <a:solidFill>
            <a:schemeClr val="accent5"/>
          </a:solidFill>
          <a:ln w="12700">
            <a:solidFill>
              <a:schemeClr val="accent5"/>
            </a:solidFill>
            <a:prstDash val="solid"/>
          </a:ln>
        </p:spPr>
      </p:sp>
      <p:sp>
        <p:nvSpPr>
          <p:cNvPr id="22" name="Text 16"/>
          <p:cNvSpPr txBox="1"/>
          <p:nvPr/>
        </p:nvSpPr>
        <p:spPr>
          <a:xfrm>
            <a:off x="4654296" y="2560320"/>
            <a:ext cx="1325880" cy="320040"/>
          </a:xfrm>
          <a:prstGeom prst="rect">
            <a:avLst/>
          </a:prstGeom>
          <a:noFill/>
          <a:ln/>
        </p:spPr>
        <p:txBody>
          <a:bodyPr wrap="square" lIns="0" tIns="0" rIns="0" bIns="0" rtlCol="0" anchor="ctr"/>
          <a:lstStyle/>
          <a:p>
            <a:pPr marL="0" indent="0" algn="ctr">
              <a:buNone/>
            </a:pPr>
            <a:r>
              <a:rPr lang="en-US" sz="1400" b="1" dirty="0">
                <a:solidFill>
                  <a:schemeClr val="tx1"/>
                </a:solidFill>
              </a:rPr>
              <a:t>4. Classify</a:t>
            </a:r>
            <a:endParaRPr lang="en-US" sz="1400" dirty="0"/>
          </a:p>
        </p:txBody>
      </p:sp>
      <p:sp>
        <p:nvSpPr>
          <p:cNvPr id="23" name="Text 17"/>
          <p:cNvSpPr txBox="1"/>
          <p:nvPr/>
        </p:nvSpPr>
        <p:spPr>
          <a:xfrm>
            <a:off x="4654296" y="2880360"/>
            <a:ext cx="1325880" cy="685800"/>
          </a:xfrm>
          <a:prstGeom prst="rect">
            <a:avLst/>
          </a:prstGeom>
          <a:noFill/>
          <a:ln/>
        </p:spPr>
        <p:txBody>
          <a:bodyPr wrap="square" lIns="0" tIns="0" rIns="0" bIns="0" rtlCol="0" anchor="t"/>
          <a:lstStyle/>
          <a:p>
            <a:pPr marL="0" indent="0" algn="ctr">
              <a:buNone/>
            </a:pPr>
            <a:r>
              <a:rPr lang="en-US" sz="1200" dirty="0">
                <a:solidFill>
                  <a:schemeClr val="tx2"/>
                </a:solidFill>
              </a:rPr>
              <a:t>Label box as car, bus or motorcycle</a:t>
            </a:r>
            <a:endParaRPr lang="en-US" sz="1200" dirty="0"/>
          </a:p>
        </p:txBody>
      </p:sp>
      <p:sp>
        <p:nvSpPr>
          <p:cNvPr id="24" name="step 4 circle"/>
          <p:cNvSpPr/>
          <p:nvPr/>
        </p:nvSpPr>
        <p:spPr>
          <a:xfrm>
            <a:off x="6373368" y="1737360"/>
            <a:ext cx="685800" cy="685800"/>
          </a:xfrm>
          <a:prstGeom prst="ellipse">
            <a:avLst/>
          </a:prstGeom>
          <a:solidFill>
            <a:schemeClr val="accent6"/>
          </a:solidFill>
          <a:ln w="12700">
            <a:solidFill>
              <a:schemeClr val="accent6"/>
            </a:solidFill>
            <a:prstDash val="solid"/>
          </a:ln>
        </p:spPr>
      </p:sp>
      <p:pic>
        <p:nvPicPr>
          <p:cNvPr id="25" name="step 4 icon" descr="preencoded.png"/>
          <p:cNvPicPr>
            <a:picLocks noChangeAspect="1"/>
          </p:cNvPicPr>
          <p:nvPr/>
        </p:nvPicPr>
        <p:blipFill>
          <a:blip r:embed="rId7"/>
          <a:stretch>
            <a:fillRect/>
          </a:stretch>
        </p:blipFill>
        <p:spPr>
          <a:xfrm>
            <a:off x="6544818" y="1908810"/>
            <a:ext cx="342900" cy="342900"/>
          </a:xfrm>
          <a:prstGeom prst="rect">
            <a:avLst/>
          </a:prstGeom>
        </p:spPr>
      </p:pic>
      <p:sp>
        <p:nvSpPr>
          <p:cNvPr id="26" name="arrow 4"/>
          <p:cNvSpPr/>
          <p:nvPr/>
        </p:nvSpPr>
        <p:spPr>
          <a:xfrm>
            <a:off x="7150608" y="1993392"/>
            <a:ext cx="320040" cy="182880"/>
          </a:xfrm>
          <a:prstGeom prst="rightArrow">
            <a:avLst/>
          </a:prstGeom>
          <a:solidFill>
            <a:schemeClr val="accent5"/>
          </a:solidFill>
          <a:ln w="12700">
            <a:solidFill>
              <a:schemeClr val="accent5"/>
            </a:solidFill>
            <a:prstDash val="solid"/>
          </a:ln>
        </p:spPr>
      </p:sp>
      <p:sp>
        <p:nvSpPr>
          <p:cNvPr id="27" name="Text 20"/>
          <p:cNvSpPr txBox="1"/>
          <p:nvPr/>
        </p:nvSpPr>
        <p:spPr>
          <a:xfrm>
            <a:off x="6053328" y="2560320"/>
            <a:ext cx="1325880" cy="320040"/>
          </a:xfrm>
          <a:prstGeom prst="rect">
            <a:avLst/>
          </a:prstGeom>
          <a:noFill/>
          <a:ln/>
        </p:spPr>
        <p:txBody>
          <a:bodyPr wrap="square" lIns="0" tIns="0" rIns="0" bIns="0" rtlCol="0" anchor="ctr"/>
          <a:lstStyle/>
          <a:p>
            <a:pPr marL="0" indent="0" algn="ctr">
              <a:buNone/>
            </a:pPr>
            <a:r>
              <a:rPr lang="en-US" sz="1400" b="1" dirty="0">
                <a:solidFill>
                  <a:schemeClr val="tx1"/>
                </a:solidFill>
              </a:rPr>
              <a:t>5. Count</a:t>
            </a:r>
            <a:endParaRPr lang="en-US" sz="1400" dirty="0"/>
          </a:p>
        </p:txBody>
      </p:sp>
      <p:sp>
        <p:nvSpPr>
          <p:cNvPr id="28" name="Text 21"/>
          <p:cNvSpPr txBox="1"/>
          <p:nvPr/>
        </p:nvSpPr>
        <p:spPr>
          <a:xfrm>
            <a:off x="6053328" y="2880360"/>
            <a:ext cx="1325880" cy="685800"/>
          </a:xfrm>
          <a:prstGeom prst="rect">
            <a:avLst/>
          </a:prstGeom>
          <a:noFill/>
          <a:ln/>
        </p:spPr>
        <p:txBody>
          <a:bodyPr wrap="square" lIns="0" tIns="0" rIns="0" bIns="0" rtlCol="0" anchor="t"/>
          <a:lstStyle/>
          <a:p>
            <a:pPr marL="0" indent="0" algn="ctr">
              <a:buNone/>
            </a:pPr>
            <a:r>
              <a:rPr lang="en-US" sz="1200" dirty="0">
                <a:solidFill>
                  <a:schemeClr val="tx2"/>
                </a:solidFill>
              </a:rPr>
              <a:t>Tally detections per class</a:t>
            </a:r>
            <a:endParaRPr lang="en-US" sz="1200" dirty="0"/>
          </a:p>
        </p:txBody>
      </p:sp>
      <p:sp>
        <p:nvSpPr>
          <p:cNvPr id="29" name="step 5 circle"/>
          <p:cNvSpPr/>
          <p:nvPr/>
        </p:nvSpPr>
        <p:spPr>
          <a:xfrm>
            <a:off x="7772400" y="1737360"/>
            <a:ext cx="685800" cy="685800"/>
          </a:xfrm>
          <a:prstGeom prst="ellipse">
            <a:avLst/>
          </a:prstGeom>
          <a:solidFill>
            <a:schemeClr val="accent6"/>
          </a:solidFill>
          <a:ln w="12700">
            <a:solidFill>
              <a:schemeClr val="accent6"/>
            </a:solidFill>
            <a:prstDash val="solid"/>
          </a:ln>
        </p:spPr>
      </p:sp>
      <p:pic>
        <p:nvPicPr>
          <p:cNvPr id="30" name="step 5 icon" descr="preencoded.png"/>
          <p:cNvPicPr>
            <a:picLocks noChangeAspect="1"/>
          </p:cNvPicPr>
          <p:nvPr/>
        </p:nvPicPr>
        <p:blipFill>
          <a:blip r:embed="rId8"/>
          <a:stretch>
            <a:fillRect/>
          </a:stretch>
        </p:blipFill>
        <p:spPr>
          <a:xfrm>
            <a:off x="7943850" y="1908810"/>
            <a:ext cx="342900" cy="342900"/>
          </a:xfrm>
          <a:prstGeom prst="rect">
            <a:avLst/>
          </a:prstGeom>
        </p:spPr>
      </p:pic>
      <p:sp>
        <p:nvSpPr>
          <p:cNvPr id="31" name="Text 23"/>
          <p:cNvSpPr txBox="1"/>
          <p:nvPr/>
        </p:nvSpPr>
        <p:spPr>
          <a:xfrm>
            <a:off x="7452360" y="2560320"/>
            <a:ext cx="1325880" cy="320040"/>
          </a:xfrm>
          <a:prstGeom prst="rect">
            <a:avLst/>
          </a:prstGeom>
          <a:noFill/>
          <a:ln/>
        </p:spPr>
        <p:txBody>
          <a:bodyPr wrap="square" lIns="0" tIns="0" rIns="0" bIns="0" rtlCol="0" anchor="ctr"/>
          <a:lstStyle/>
          <a:p>
            <a:pPr marL="0" indent="0" algn="ctr">
              <a:buNone/>
            </a:pPr>
            <a:r>
              <a:rPr lang="en-US" sz="1400" b="1" dirty="0">
                <a:solidFill>
                  <a:schemeClr val="tx1"/>
                </a:solidFill>
              </a:rPr>
              <a:t>6. Report</a:t>
            </a:r>
            <a:endParaRPr lang="en-US" sz="1400" dirty="0"/>
          </a:p>
        </p:txBody>
      </p:sp>
      <p:sp>
        <p:nvSpPr>
          <p:cNvPr id="32" name="Text 24"/>
          <p:cNvSpPr txBox="1"/>
          <p:nvPr/>
        </p:nvSpPr>
        <p:spPr>
          <a:xfrm>
            <a:off x="7452360" y="2880360"/>
            <a:ext cx="1325880" cy="685800"/>
          </a:xfrm>
          <a:prstGeom prst="rect">
            <a:avLst/>
          </a:prstGeom>
          <a:noFill/>
          <a:ln/>
        </p:spPr>
        <p:txBody>
          <a:bodyPr wrap="square" lIns="0" tIns="0" rIns="0" bIns="0" rtlCol="0" anchor="t"/>
          <a:lstStyle/>
          <a:p>
            <a:pPr marL="0" indent="0" algn="ctr">
              <a:buNone/>
            </a:pPr>
            <a:r>
              <a:rPr lang="en-US" sz="1200" dirty="0">
                <a:solidFill>
                  <a:schemeClr val="tx2"/>
                </a:solidFill>
              </a:rPr>
              <a:t>Totals, percentages, time stamp</a:t>
            </a:r>
            <a:endParaRPr lang="en-US" sz="1200" dirty="0"/>
          </a:p>
        </p:txBody>
      </p:sp>
      <p:sp>
        <p:nvSpPr>
          <p:cNvPr id="33" name="key idea box"/>
          <p:cNvSpPr/>
          <p:nvPr/>
        </p:nvSpPr>
        <p:spPr>
          <a:xfrm>
            <a:off x="457200" y="3794760"/>
            <a:ext cx="8229600" cy="777240"/>
          </a:xfrm>
          <a:prstGeom prst="roundRect">
            <a:avLst>
              <a:gd name="adj" fmla="val 9412"/>
            </a:avLst>
          </a:prstGeom>
          <a:solidFill>
            <a:schemeClr val="bg2"/>
          </a:solidFill>
          <a:ln w="12700">
            <a:solidFill>
              <a:schemeClr val="bg2"/>
            </a:solidFill>
            <a:prstDash val="solid"/>
          </a:ln>
        </p:spPr>
      </p:sp>
      <p:sp>
        <p:nvSpPr>
          <p:cNvPr id="34" name="Text 26"/>
          <p:cNvSpPr txBox="1"/>
          <p:nvPr/>
        </p:nvSpPr>
        <p:spPr>
          <a:xfrm>
            <a:off x="640080" y="3840480"/>
            <a:ext cx="7863840" cy="685800"/>
          </a:xfrm>
          <a:prstGeom prst="rect">
            <a:avLst/>
          </a:prstGeom>
          <a:noFill/>
          <a:ln/>
        </p:spPr>
        <p:txBody>
          <a:bodyPr wrap="square" lIns="0" tIns="0" rIns="0" bIns="0" rtlCol="0" anchor="ctr"/>
          <a:lstStyle/>
          <a:p>
            <a:pPr marL="0" indent="0">
              <a:buNone/>
            </a:pPr>
            <a:r>
              <a:rPr lang="en-US" sz="1400" b="1" dirty="0">
                <a:solidFill>
                  <a:schemeClr val="tx1"/>
                </a:solidFill>
              </a:rPr>
              <a:t>Key idea: </a:t>
            </a:r>
            <a:r>
              <a:rPr lang="en-US" sz="1400" dirty="0">
                <a:solidFill>
                  <a:schemeClr val="tx2"/>
                </a:solidFill>
              </a:rPr>
              <a:t>detection answers “where is each vehicle?”, classification answers “what type is it?”. Only when both are right does the count become a reliable report.</a:t>
            </a:r>
            <a:endParaRPr lang="en-US" sz="1400" dirty="0"/>
          </a:p>
        </p:txBody>
      </p:sp>
      <p:sp>
        <p:nvSpPr>
          <p:cNvPr id="3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How Detection and Classification Work</a:t>
            </a:r>
            <a:endParaRPr lang="en-US" sz="3000" dirty="0"/>
          </a:p>
        </p:txBody>
      </p:sp>
      <p:sp>
        <p:nvSpPr>
          <p:cNvPr id="3" name="road surface"/>
          <p:cNvSpPr/>
          <p:nvPr/>
        </p:nvSpPr>
        <p:spPr>
          <a:xfrm>
            <a:off x="457200" y="1097280"/>
            <a:ext cx="4389120" cy="3383280"/>
          </a:xfrm>
          <a:prstGeom prst="rect">
            <a:avLst/>
          </a:prstGeom>
          <a:solidFill>
            <a:srgbClr val="3B4250"/>
          </a:solidFill>
          <a:ln w="12700">
            <a:solidFill>
              <a:srgbClr val="3B4250"/>
            </a:solidFill>
            <a:prstDash val="solid"/>
          </a:ln>
        </p:spPr>
      </p:sp>
      <p:sp>
        <p:nvSpPr>
          <p:cNvPr id="4" name="lane line 1"/>
          <p:cNvSpPr/>
          <p:nvPr/>
        </p:nvSpPr>
        <p:spPr>
          <a:xfrm>
            <a:off x="457200" y="2225040"/>
            <a:ext cx="4389120" cy="0"/>
          </a:xfrm>
          <a:prstGeom prst="line">
            <a:avLst/>
          </a:prstGeom>
          <a:noFill/>
          <a:ln w="19050">
            <a:solidFill>
              <a:srgbClr val="FFFFFF"/>
            </a:solidFill>
            <a:prstDash val="dash"/>
          </a:ln>
        </p:spPr>
      </p:sp>
      <p:sp>
        <p:nvSpPr>
          <p:cNvPr id="5" name="lane line 2"/>
          <p:cNvSpPr/>
          <p:nvPr/>
        </p:nvSpPr>
        <p:spPr>
          <a:xfrm>
            <a:off x="457200" y="3352800"/>
            <a:ext cx="4389120" cy="0"/>
          </a:xfrm>
          <a:prstGeom prst="line">
            <a:avLst/>
          </a:prstGeom>
          <a:noFill/>
          <a:ln w="19050">
            <a:solidFill>
              <a:srgbClr val="FFFFFF"/>
            </a:solidFill>
            <a:prstDash val="dash"/>
          </a:ln>
        </p:spPr>
      </p:sp>
      <p:pic>
        <p:nvPicPr>
          <p:cNvPr id="6" name="vehicle 0" descr="preencoded.png"/>
          <p:cNvPicPr>
            <a:picLocks noChangeAspect="1"/>
          </p:cNvPicPr>
          <p:nvPr/>
        </p:nvPicPr>
        <p:blipFill>
          <a:blip r:embed="rId3"/>
          <a:stretch>
            <a:fillRect/>
          </a:stretch>
        </p:blipFill>
        <p:spPr>
          <a:xfrm>
            <a:off x="1014984" y="1380744"/>
            <a:ext cx="438912" cy="438912"/>
          </a:xfrm>
          <a:prstGeom prst="rect">
            <a:avLst/>
          </a:prstGeom>
        </p:spPr>
      </p:pic>
      <p:sp>
        <p:nvSpPr>
          <p:cNvPr id="7" name="bbox 0"/>
          <p:cNvSpPr/>
          <p:nvPr/>
        </p:nvSpPr>
        <p:spPr>
          <a:xfrm>
            <a:off x="685800" y="1280160"/>
            <a:ext cx="1097280" cy="640080"/>
          </a:xfrm>
          <a:prstGeom prst="rect">
            <a:avLst/>
          </a:prstGeom>
          <a:ln w="25400">
            <a:solidFill>
              <a:srgbClr val="FFB400"/>
            </a:solidFill>
            <a:prstDash val="solid"/>
          </a:ln>
        </p:spPr>
      </p:sp>
      <p:sp>
        <p:nvSpPr>
          <p:cNvPr id="8" name="Text 5"/>
          <p:cNvSpPr txBox="1"/>
          <p:nvPr/>
        </p:nvSpPr>
        <p:spPr>
          <a:xfrm>
            <a:off x="685800" y="1078992"/>
            <a:ext cx="1188720" cy="182880"/>
          </a:xfrm>
          <a:prstGeom prst="rect">
            <a:avLst/>
          </a:prstGeom>
          <a:noFill/>
          <a:ln/>
        </p:spPr>
        <p:txBody>
          <a:bodyPr wrap="square" lIns="0" tIns="0" rIns="0" bIns="0" rtlCol="0" anchor="ctr"/>
          <a:lstStyle/>
          <a:p>
            <a:pPr marL="0" indent="0">
              <a:buNone/>
            </a:pPr>
            <a:r>
              <a:rPr lang="en-US" sz="900" b="1" dirty="0">
                <a:solidFill>
                  <a:srgbClr val="FFB400"/>
                </a:solidFill>
              </a:rPr>
              <a:t>car 0.94</a:t>
            </a:r>
            <a:endParaRPr lang="en-US" sz="900" dirty="0"/>
          </a:p>
        </p:txBody>
      </p:sp>
      <p:pic>
        <p:nvPicPr>
          <p:cNvPr id="9" name="vehicle 1" descr="preencoded.png"/>
          <p:cNvPicPr>
            <a:picLocks noChangeAspect="1"/>
          </p:cNvPicPr>
          <p:nvPr/>
        </p:nvPicPr>
        <p:blipFill>
          <a:blip r:embed="rId4"/>
          <a:stretch>
            <a:fillRect/>
          </a:stretch>
        </p:blipFill>
        <p:spPr>
          <a:xfrm>
            <a:off x="2834640" y="1485900"/>
            <a:ext cx="548640" cy="548640"/>
          </a:xfrm>
          <a:prstGeom prst="rect">
            <a:avLst/>
          </a:prstGeom>
        </p:spPr>
      </p:pic>
      <p:sp>
        <p:nvSpPr>
          <p:cNvPr id="10" name="bbox 1"/>
          <p:cNvSpPr/>
          <p:nvPr/>
        </p:nvSpPr>
        <p:spPr>
          <a:xfrm>
            <a:off x="2148840" y="1371600"/>
            <a:ext cx="1920240" cy="777240"/>
          </a:xfrm>
          <a:prstGeom prst="rect">
            <a:avLst/>
          </a:prstGeom>
          <a:ln w="25400">
            <a:solidFill>
              <a:srgbClr val="3A86C8"/>
            </a:solidFill>
            <a:prstDash val="solid"/>
          </a:ln>
        </p:spPr>
      </p:sp>
      <p:sp>
        <p:nvSpPr>
          <p:cNvPr id="11" name="Text 7"/>
          <p:cNvSpPr txBox="1"/>
          <p:nvPr/>
        </p:nvSpPr>
        <p:spPr>
          <a:xfrm>
            <a:off x="2148840" y="1170432"/>
            <a:ext cx="1188720" cy="182880"/>
          </a:xfrm>
          <a:prstGeom prst="rect">
            <a:avLst/>
          </a:prstGeom>
          <a:noFill/>
          <a:ln/>
        </p:spPr>
        <p:txBody>
          <a:bodyPr wrap="square" lIns="0" tIns="0" rIns="0" bIns="0" rtlCol="0" anchor="ctr"/>
          <a:lstStyle/>
          <a:p>
            <a:pPr marL="0" indent="0">
              <a:buNone/>
            </a:pPr>
            <a:r>
              <a:rPr lang="en-US" sz="900" b="1" dirty="0">
                <a:solidFill>
                  <a:srgbClr val="3A86C8"/>
                </a:solidFill>
              </a:rPr>
              <a:t>bus 0.91</a:t>
            </a:r>
            <a:endParaRPr lang="en-US" sz="900" dirty="0"/>
          </a:p>
        </p:txBody>
      </p:sp>
      <p:pic>
        <p:nvPicPr>
          <p:cNvPr id="12" name="vehicle 2" descr="preencoded.png"/>
          <p:cNvPicPr>
            <a:picLocks noChangeAspect="1"/>
          </p:cNvPicPr>
          <p:nvPr/>
        </p:nvPicPr>
        <p:blipFill>
          <a:blip r:embed="rId5"/>
          <a:stretch>
            <a:fillRect/>
          </a:stretch>
        </p:blipFill>
        <p:spPr>
          <a:xfrm>
            <a:off x="1074420" y="2560320"/>
            <a:ext cx="365760" cy="365760"/>
          </a:xfrm>
          <a:prstGeom prst="rect">
            <a:avLst/>
          </a:prstGeom>
        </p:spPr>
      </p:pic>
      <p:sp>
        <p:nvSpPr>
          <p:cNvPr id="13" name="bbox 2"/>
          <p:cNvSpPr/>
          <p:nvPr/>
        </p:nvSpPr>
        <p:spPr>
          <a:xfrm>
            <a:off x="960120" y="2468880"/>
            <a:ext cx="594360" cy="548640"/>
          </a:xfrm>
          <a:prstGeom prst="rect">
            <a:avLst/>
          </a:prstGeom>
          <a:ln w="25400">
            <a:solidFill>
              <a:srgbClr val="2E9E5B"/>
            </a:solidFill>
            <a:prstDash val="solid"/>
          </a:ln>
        </p:spPr>
      </p:sp>
      <p:sp>
        <p:nvSpPr>
          <p:cNvPr id="14" name="Text 9"/>
          <p:cNvSpPr txBox="1"/>
          <p:nvPr/>
        </p:nvSpPr>
        <p:spPr>
          <a:xfrm>
            <a:off x="960120" y="2267712"/>
            <a:ext cx="1188720" cy="182880"/>
          </a:xfrm>
          <a:prstGeom prst="rect">
            <a:avLst/>
          </a:prstGeom>
          <a:noFill/>
          <a:ln/>
        </p:spPr>
        <p:txBody>
          <a:bodyPr wrap="square" lIns="0" tIns="0" rIns="0" bIns="0" rtlCol="0" anchor="ctr"/>
          <a:lstStyle/>
          <a:p>
            <a:pPr marL="0" indent="0">
              <a:buNone/>
            </a:pPr>
            <a:r>
              <a:rPr lang="en-US" sz="900" b="1" dirty="0">
                <a:solidFill>
                  <a:srgbClr val="2E9E5B"/>
                </a:solidFill>
              </a:rPr>
              <a:t>motorcycle 0.88</a:t>
            </a:r>
            <a:endParaRPr lang="en-US" sz="900" dirty="0"/>
          </a:p>
        </p:txBody>
      </p:sp>
      <p:pic>
        <p:nvPicPr>
          <p:cNvPr id="15" name="vehicle 3" descr="preencoded.png"/>
          <p:cNvPicPr>
            <a:picLocks noChangeAspect="1"/>
          </p:cNvPicPr>
          <p:nvPr/>
        </p:nvPicPr>
        <p:blipFill>
          <a:blip r:embed="rId3"/>
          <a:stretch>
            <a:fillRect/>
          </a:stretch>
        </p:blipFill>
        <p:spPr>
          <a:xfrm>
            <a:off x="2660904" y="2523744"/>
            <a:ext cx="438912" cy="438912"/>
          </a:xfrm>
          <a:prstGeom prst="rect">
            <a:avLst/>
          </a:prstGeom>
        </p:spPr>
      </p:pic>
      <p:sp>
        <p:nvSpPr>
          <p:cNvPr id="16" name="bbox 3"/>
          <p:cNvSpPr/>
          <p:nvPr/>
        </p:nvSpPr>
        <p:spPr>
          <a:xfrm>
            <a:off x="2331720" y="2423160"/>
            <a:ext cx="1097280" cy="640080"/>
          </a:xfrm>
          <a:prstGeom prst="rect">
            <a:avLst/>
          </a:prstGeom>
          <a:ln w="25400">
            <a:solidFill>
              <a:srgbClr val="FFB400"/>
            </a:solidFill>
            <a:prstDash val="solid"/>
          </a:ln>
        </p:spPr>
      </p:sp>
      <p:sp>
        <p:nvSpPr>
          <p:cNvPr id="17" name="Text 11"/>
          <p:cNvSpPr txBox="1"/>
          <p:nvPr/>
        </p:nvSpPr>
        <p:spPr>
          <a:xfrm>
            <a:off x="2331720" y="2221992"/>
            <a:ext cx="1188720" cy="182880"/>
          </a:xfrm>
          <a:prstGeom prst="rect">
            <a:avLst/>
          </a:prstGeom>
          <a:noFill/>
          <a:ln/>
        </p:spPr>
        <p:txBody>
          <a:bodyPr wrap="square" lIns="0" tIns="0" rIns="0" bIns="0" rtlCol="0" anchor="ctr"/>
          <a:lstStyle/>
          <a:p>
            <a:pPr marL="0" indent="0">
              <a:buNone/>
            </a:pPr>
            <a:r>
              <a:rPr lang="en-US" sz="900" b="1" dirty="0">
                <a:solidFill>
                  <a:srgbClr val="FFB400"/>
                </a:solidFill>
              </a:rPr>
              <a:t>car 0.97</a:t>
            </a:r>
            <a:endParaRPr lang="en-US" sz="900" dirty="0"/>
          </a:p>
        </p:txBody>
      </p:sp>
      <p:pic>
        <p:nvPicPr>
          <p:cNvPr id="18" name="vehicle 4" descr="preencoded.png"/>
          <p:cNvPicPr>
            <a:picLocks noChangeAspect="1"/>
          </p:cNvPicPr>
          <p:nvPr/>
        </p:nvPicPr>
        <p:blipFill>
          <a:blip r:embed="rId5"/>
          <a:stretch>
            <a:fillRect/>
          </a:stretch>
        </p:blipFill>
        <p:spPr>
          <a:xfrm>
            <a:off x="2811780" y="3657600"/>
            <a:ext cx="365760" cy="365760"/>
          </a:xfrm>
          <a:prstGeom prst="rect">
            <a:avLst/>
          </a:prstGeom>
        </p:spPr>
      </p:pic>
      <p:sp>
        <p:nvSpPr>
          <p:cNvPr id="19" name="bbox 4"/>
          <p:cNvSpPr/>
          <p:nvPr/>
        </p:nvSpPr>
        <p:spPr>
          <a:xfrm>
            <a:off x="2697480" y="3566160"/>
            <a:ext cx="594360" cy="548640"/>
          </a:xfrm>
          <a:prstGeom prst="rect">
            <a:avLst/>
          </a:prstGeom>
          <a:ln w="25400">
            <a:solidFill>
              <a:srgbClr val="2E9E5B"/>
            </a:solidFill>
            <a:prstDash val="solid"/>
          </a:ln>
        </p:spPr>
      </p:sp>
      <p:sp>
        <p:nvSpPr>
          <p:cNvPr id="20" name="Text 13"/>
          <p:cNvSpPr txBox="1"/>
          <p:nvPr/>
        </p:nvSpPr>
        <p:spPr>
          <a:xfrm>
            <a:off x="2697480" y="3364992"/>
            <a:ext cx="1188720" cy="182880"/>
          </a:xfrm>
          <a:prstGeom prst="rect">
            <a:avLst/>
          </a:prstGeom>
          <a:noFill/>
          <a:ln/>
        </p:spPr>
        <p:txBody>
          <a:bodyPr wrap="square" lIns="0" tIns="0" rIns="0" bIns="0" rtlCol="0" anchor="ctr"/>
          <a:lstStyle/>
          <a:p>
            <a:pPr marL="0" indent="0">
              <a:buNone/>
            </a:pPr>
            <a:r>
              <a:rPr lang="en-US" sz="900" b="1" dirty="0">
                <a:solidFill>
                  <a:srgbClr val="2E9E5B"/>
                </a:solidFill>
              </a:rPr>
              <a:t>motorcycle 0.83</a:t>
            </a:r>
            <a:endParaRPr lang="en-US" sz="900" dirty="0"/>
          </a:p>
        </p:txBody>
      </p:sp>
      <p:pic>
        <p:nvPicPr>
          <p:cNvPr id="21" name="vehicle 5" descr="preencoded.png"/>
          <p:cNvPicPr>
            <a:picLocks noChangeAspect="1"/>
          </p:cNvPicPr>
          <p:nvPr/>
        </p:nvPicPr>
        <p:blipFill>
          <a:blip r:embed="rId3"/>
          <a:stretch>
            <a:fillRect/>
          </a:stretch>
        </p:blipFill>
        <p:spPr>
          <a:xfrm>
            <a:off x="1014984" y="3621024"/>
            <a:ext cx="438912" cy="438912"/>
          </a:xfrm>
          <a:prstGeom prst="rect">
            <a:avLst/>
          </a:prstGeom>
        </p:spPr>
      </p:pic>
      <p:sp>
        <p:nvSpPr>
          <p:cNvPr id="22" name="bbox 5"/>
          <p:cNvSpPr/>
          <p:nvPr/>
        </p:nvSpPr>
        <p:spPr>
          <a:xfrm>
            <a:off x="685800" y="3520440"/>
            <a:ext cx="1097280" cy="640080"/>
          </a:xfrm>
          <a:prstGeom prst="rect">
            <a:avLst/>
          </a:prstGeom>
          <a:ln w="25400">
            <a:solidFill>
              <a:srgbClr val="FFB400"/>
            </a:solidFill>
            <a:prstDash val="solid"/>
          </a:ln>
        </p:spPr>
      </p:sp>
      <p:sp>
        <p:nvSpPr>
          <p:cNvPr id="23" name="Text 15"/>
          <p:cNvSpPr txBox="1"/>
          <p:nvPr/>
        </p:nvSpPr>
        <p:spPr>
          <a:xfrm>
            <a:off x="685800" y="3319272"/>
            <a:ext cx="1188720" cy="182880"/>
          </a:xfrm>
          <a:prstGeom prst="rect">
            <a:avLst/>
          </a:prstGeom>
          <a:noFill/>
          <a:ln/>
        </p:spPr>
        <p:txBody>
          <a:bodyPr wrap="square" lIns="0" tIns="0" rIns="0" bIns="0" rtlCol="0" anchor="ctr"/>
          <a:lstStyle/>
          <a:p>
            <a:pPr marL="0" indent="0">
              <a:buNone/>
            </a:pPr>
            <a:r>
              <a:rPr lang="en-US" sz="900" b="1" dirty="0">
                <a:solidFill>
                  <a:srgbClr val="FFB400"/>
                </a:solidFill>
              </a:rPr>
              <a:t>car 0.90</a:t>
            </a:r>
            <a:endParaRPr lang="en-US" sz="900" dirty="0"/>
          </a:p>
        </p:txBody>
      </p:sp>
      <p:sp>
        <p:nvSpPr>
          <p:cNvPr id="24" name="Text 16"/>
          <p:cNvSpPr txBox="1"/>
          <p:nvPr/>
        </p:nvSpPr>
        <p:spPr>
          <a:xfrm>
            <a:off x="457200" y="4498848"/>
            <a:ext cx="4389120" cy="228600"/>
          </a:xfrm>
          <a:prstGeom prst="rect">
            <a:avLst/>
          </a:prstGeom>
          <a:noFill/>
          <a:ln/>
        </p:spPr>
        <p:txBody>
          <a:bodyPr wrap="square" lIns="0" tIns="0" rIns="0" bIns="0" rtlCol="0" anchor="ctr"/>
          <a:lstStyle/>
          <a:p>
            <a:pPr marL="0" indent="0">
              <a:buNone/>
            </a:pPr>
            <a:r>
              <a:rPr lang="en-US" sz="1000" i="1" dirty="0">
                <a:solidFill>
                  <a:schemeClr val="accent5"/>
                </a:solidFill>
              </a:rPr>
              <a:t>Illustrative detector output: box + class + confidence</a:t>
            </a:r>
            <a:endParaRPr lang="en-US" sz="1000" dirty="0"/>
          </a:p>
        </p:txBody>
      </p:sp>
      <p:sp>
        <p:nvSpPr>
          <p:cNvPr id="25" name="Text 17"/>
          <p:cNvSpPr txBox="1"/>
          <p:nvPr/>
        </p:nvSpPr>
        <p:spPr>
          <a:xfrm>
            <a:off x="5120640" y="1097280"/>
            <a:ext cx="3566160" cy="3474720"/>
          </a:xfrm>
          <a:prstGeom prst="rect">
            <a:avLst/>
          </a:prstGeom>
          <a:noFill/>
          <a:ln/>
        </p:spPr>
        <p:txBody>
          <a:bodyPr wrap="square" lIns="0" tIns="0" rIns="0" bIns="0" rtlCol="0" anchor="t"/>
          <a:lstStyle/>
          <a:p>
            <a:pPr marL="0" indent="0">
              <a:buNone/>
            </a:pPr>
            <a:r>
              <a:rPr lang="en-US" sz="1600" b="1" dirty="0">
                <a:solidFill>
                  <a:schemeClr val="tx1"/>
                </a:solidFill>
              </a:rPr>
              <a:t>Object detection</a:t>
            </a:r>
            <a:endParaRPr lang="en-US" sz="1600" dirty="0"/>
          </a:p>
          <a:p>
            <a:pPr marL="0" indent="0">
              <a:buNone/>
            </a:pPr>
            <a:r>
              <a:rPr lang="en-US" sz="1400" dirty="0">
                <a:solidFill>
                  <a:schemeClr val="tx2"/>
                </a:solidFill>
              </a:rPr>
              <a:t>A CNN detector (e.g. YOLO, SSD, Faster R-CNN) scans the image and outputs a bounding box for every vehicle it finds.</a:t>
            </a:r>
            <a:endParaRPr lang="en-US" sz="1600" dirty="0"/>
          </a:p>
          <a:p>
            <a:pPr marL="0" indent="0">
              <a:buNone/>
            </a:pPr>
            <a:r>
              <a:rPr lang="en-US" sz="600" dirty="0">
                <a:solidFill>
                  <a:srgbClr val="000000"/>
                </a:solidFill>
              </a:rPr>
              <a:t> </a:t>
            </a:r>
            <a:endParaRPr lang="en-US" sz="1600" dirty="0"/>
          </a:p>
          <a:p>
            <a:pPr marL="0" indent="0">
              <a:buNone/>
            </a:pPr>
            <a:r>
              <a:rPr lang="en-US" sz="1600" b="1" dirty="0">
                <a:solidFill>
                  <a:schemeClr val="tx1"/>
                </a:solidFill>
              </a:rPr>
              <a:t>Classification</a:t>
            </a:r>
            <a:endParaRPr lang="en-US" sz="1600" dirty="0"/>
          </a:p>
          <a:p>
            <a:pPr marL="0" indent="0">
              <a:buNone/>
            </a:pPr>
            <a:r>
              <a:rPr lang="en-US" sz="1400" dirty="0">
                <a:solidFill>
                  <a:schemeClr val="tx2"/>
                </a:solidFill>
              </a:rPr>
              <a:t>Each box gets a class label and a confidence score. Low-confidence boxes are dropped (e.g. below 0.5).</a:t>
            </a:r>
            <a:endParaRPr lang="en-US" sz="1600" dirty="0"/>
          </a:p>
          <a:p>
            <a:pPr marL="0" indent="0">
              <a:buNone/>
            </a:pPr>
            <a:r>
              <a:rPr lang="en-US" sz="600" dirty="0">
                <a:solidFill>
                  <a:srgbClr val="000000"/>
                </a:solidFill>
              </a:rPr>
              <a:t> </a:t>
            </a:r>
            <a:endParaRPr lang="en-US" sz="1600" dirty="0"/>
          </a:p>
          <a:p>
            <a:pPr marL="0" indent="0">
              <a:buNone/>
            </a:pPr>
            <a:r>
              <a:rPr lang="en-US" sz="1600" b="1" dirty="0">
                <a:solidFill>
                  <a:schemeClr val="tx1"/>
                </a:solidFill>
              </a:rPr>
              <a:t>Avoiding double counts</a:t>
            </a:r>
            <a:endParaRPr lang="en-US" sz="1600" dirty="0"/>
          </a:p>
          <a:p>
            <a:pPr marL="0" indent="0">
              <a:buNone/>
            </a:pPr>
            <a:r>
              <a:rPr lang="en-US" sz="1400" dirty="0">
                <a:solidFill>
                  <a:schemeClr val="tx2"/>
                </a:solidFill>
              </a:rPr>
              <a:t>Non-maximum suppression keeps one box per vehicle; in video, tracking IDs stop the same car being counted in every frame.</a:t>
            </a:r>
            <a:endParaRPr lang="en-US" sz="1600" dirty="0"/>
          </a:p>
        </p:txBody>
      </p:sp>
      <p:sp>
        <p:nvSpPr>
          <p:cNvPr id="26"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Turning Counts into a Useful Traffic Report</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20624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384048">
                <a:tc>
                  <a:txBody>
                    <a:bodyPr/>
                    <a:lstStyle/>
                    <a:p>
                      <a:pPr marL="0" indent="0">
                        <a:buNone/>
                      </a:pPr>
                      <a:r>
                        <a:rPr lang="en-US" sz="1300" b="1" dirty="0">
                          <a:solidFill>
                            <a:schemeClr val="bg1"/>
                          </a:solidFill>
                        </a:rPr>
                        <a:t>Field</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Example value</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chemeClr val="tx1"/>
                          </a:solidFill>
                        </a:rPr>
                        <a:t>Location / camera</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Junction 4, Camera NB-2</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chemeClr val="tx1"/>
                          </a:solidFill>
                        </a:rPr>
                        <a:t>Date &amp; time window</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26 Oct 2026, 08:00–08:15</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chemeClr val="tx1"/>
                          </a:solidFill>
                        </a:rPr>
                        <a:t>Cars</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12  (48%)</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4048">
                <a:tc>
                  <a:txBody>
                    <a:bodyPr/>
                    <a:lstStyle/>
                    <a:p>
                      <a:pPr marL="0" indent="0">
                        <a:buNone/>
                      </a:pPr>
                      <a:r>
                        <a:rPr lang="en-US" sz="1300" dirty="0">
                          <a:solidFill>
                            <a:schemeClr val="tx1"/>
                          </a:solidFill>
                        </a:rPr>
                        <a:t>Buses</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4  (16%)</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84048">
                <a:tc>
                  <a:txBody>
                    <a:bodyPr/>
                    <a:lstStyle/>
                    <a:p>
                      <a:pPr marL="0" indent="0">
                        <a:buNone/>
                      </a:pPr>
                      <a:r>
                        <a:rPr lang="en-US" sz="1300" dirty="0">
                          <a:solidFill>
                            <a:schemeClr val="tx1"/>
                          </a:solidFill>
                        </a:rPr>
                        <a:t>Motorcycles</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9  (36%)</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84048">
                <a:tc>
                  <a:txBody>
                    <a:bodyPr/>
                    <a:lstStyle/>
                    <a:p>
                      <a:pPr marL="0" indent="0">
                        <a:buNone/>
                      </a:pPr>
                      <a:r>
                        <a:rPr lang="en-US" sz="1300" b="1" dirty="0">
                          <a:solidFill>
                            <a:schemeClr val="tx1"/>
                          </a:solidFill>
                        </a:rPr>
                        <a:t>Total vehicles</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bg1"/>
                    </a:solidFill>
                  </a:tcPr>
                </a:tc>
                <a:tc>
                  <a:txBody>
                    <a:bodyPr/>
                    <a:lstStyle/>
                    <a:p>
                      <a:pPr marL="0" indent="0">
                        <a:buNone/>
                      </a:pPr>
                      <a:r>
                        <a:rPr lang="en-US" sz="1300" b="1" dirty="0">
                          <a:solidFill>
                            <a:schemeClr val="tx1"/>
                          </a:solidFill>
                        </a:rPr>
                        <a:t>25</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84048">
                <a:tc>
                  <a:txBody>
                    <a:bodyPr/>
                    <a:lstStyle/>
                    <a:p>
                      <a:pPr marL="0" indent="0">
                        <a:buNone/>
                      </a:pPr>
                      <a:r>
                        <a:rPr lang="en-US" sz="1300" dirty="0">
                          <a:solidFill>
                            <a:schemeClr val="tx1"/>
                          </a:solidFill>
                        </a:rPr>
                        <a:t>Average confidence</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0.91</a:t>
                      </a:r>
                      <a:endParaRPr lang="en-US" sz="1300" dirty="0"/>
                    </a:p>
                  </a:txBody>
                  <a:tcPr marL="73152" marR="73152" marT="73152" marB="73152">
                    <a:lnL w="9525" cap="flat" cmpd="sng" algn="ctr">
                      <a:solidFill>
                        <a:srgbClr val="D5D8DE"/>
                      </a:solidFill>
                      <a:prstDash val="solid"/>
                      <a:round/>
                      <a:headEnd type="none" w="med" len="med"/>
                      <a:tailEnd type="none" w="med" len="med"/>
                    </a:lnL>
                    <a:lnR w="9525" cap="flat" cmpd="sng" algn="ctr">
                      <a:solidFill>
                        <a:srgbClr val="D5D8DE"/>
                      </a:solidFill>
                      <a:prstDash val="solid"/>
                      <a:round/>
                      <a:headEnd type="none" w="med" len="med"/>
                      <a:tailEnd type="none" w="med" len="med"/>
                    </a:lnR>
                    <a:lnT w="9525" cap="flat" cmpd="sng" algn="ctr">
                      <a:solidFill>
                        <a:srgbClr val="D5D8DE"/>
                      </a:solidFill>
                      <a:prstDash val="solid"/>
                      <a:round/>
                      <a:headEnd type="none" w="med" len="med"/>
                      <a:tailEnd type="none" w="med" len="med"/>
                    </a:lnT>
                    <a:lnB w="9525" cap="flat" cmpd="sng" algn="ctr">
                      <a:solidFill>
                        <a:srgbClr val="D5D8DE"/>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5029200" y="1097280"/>
            <a:ext cx="3657600" cy="365760"/>
          </a:xfrm>
          <a:prstGeom prst="rect">
            <a:avLst/>
          </a:prstGeom>
          <a:noFill/>
          <a:ln/>
        </p:spPr>
        <p:txBody>
          <a:bodyPr wrap="square" lIns="0" tIns="0" rIns="0" bIns="0" rtlCol="0" anchor="ctr"/>
          <a:lstStyle/>
          <a:p>
            <a:pPr marL="0" indent="0">
              <a:buNone/>
            </a:pPr>
            <a:r>
              <a:rPr lang="en-US" sz="1800" b="1" dirty="0">
                <a:solidFill>
                  <a:schemeClr val="tx1"/>
                </a:solidFill>
              </a:rPr>
              <a:t>What makes the report useful</a:t>
            </a:r>
            <a:endParaRPr lang="en-US" sz="1800" dirty="0"/>
          </a:p>
        </p:txBody>
      </p:sp>
      <p:pic>
        <p:nvPicPr>
          <p:cNvPr id="5" name="check 0" descr="preencoded.png"/>
          <p:cNvPicPr>
            <a:picLocks noChangeAspect="1"/>
          </p:cNvPicPr>
          <p:nvPr/>
        </p:nvPicPr>
        <p:blipFill>
          <a:blip r:embed="rId3"/>
          <a:stretch>
            <a:fillRect/>
          </a:stretch>
        </p:blipFill>
        <p:spPr>
          <a:xfrm>
            <a:off x="5029200" y="1627632"/>
            <a:ext cx="274320" cy="274320"/>
          </a:xfrm>
          <a:prstGeom prst="rect">
            <a:avLst/>
          </a:prstGeom>
        </p:spPr>
      </p:pic>
      <p:sp>
        <p:nvSpPr>
          <p:cNvPr id="3" name="Text 2"/>
          <p:cNvSpPr txBox="1"/>
          <p:nvPr/>
        </p:nvSpPr>
        <p:spPr>
          <a:xfrm>
            <a:off x="5440680" y="1600200"/>
            <a:ext cx="3246120" cy="658368"/>
          </a:xfrm>
          <a:prstGeom prst="rect">
            <a:avLst/>
          </a:prstGeom>
          <a:noFill/>
          <a:ln/>
        </p:spPr>
        <p:txBody>
          <a:bodyPr wrap="square" lIns="0" tIns="0" rIns="0" bIns="0" rtlCol="0" anchor="t"/>
          <a:lstStyle/>
          <a:p>
            <a:pPr marL="0" indent="0">
              <a:buNone/>
            </a:pPr>
            <a:r>
              <a:rPr lang="en-US" sz="1400" b="1" dirty="0">
                <a:solidFill>
                  <a:schemeClr val="tx1"/>
                </a:solidFill>
              </a:rPr>
              <a:t>Counts per class</a:t>
            </a:r>
            <a:endParaRPr lang="en-US" sz="1400" dirty="0"/>
          </a:p>
          <a:p>
            <a:pPr marL="0" indent="0">
              <a:buNone/>
            </a:pPr>
            <a:r>
              <a:rPr lang="en-US" sz="1400" dirty="0">
                <a:solidFill>
                  <a:schemeClr val="tx2"/>
                </a:solidFill>
              </a:rPr>
              <a:t>Planners see the vehicle mix, not just a total.</a:t>
            </a:r>
            <a:endParaRPr lang="en-US" sz="1400" dirty="0"/>
          </a:p>
        </p:txBody>
      </p:sp>
      <p:pic>
        <p:nvPicPr>
          <p:cNvPr id="7" name="check 1" descr="preencoded.png"/>
          <p:cNvPicPr>
            <a:picLocks noChangeAspect="1"/>
          </p:cNvPicPr>
          <p:nvPr/>
        </p:nvPicPr>
        <p:blipFill>
          <a:blip r:embed="rId3"/>
          <a:stretch>
            <a:fillRect/>
          </a:stretch>
        </p:blipFill>
        <p:spPr>
          <a:xfrm>
            <a:off x="5029200" y="2359152"/>
            <a:ext cx="274320" cy="274320"/>
          </a:xfrm>
          <a:prstGeom prst="rect">
            <a:avLst/>
          </a:prstGeom>
        </p:spPr>
      </p:pic>
      <p:sp>
        <p:nvSpPr>
          <p:cNvPr id="8" name="Text 3"/>
          <p:cNvSpPr txBox="1"/>
          <p:nvPr/>
        </p:nvSpPr>
        <p:spPr>
          <a:xfrm>
            <a:off x="5440680" y="2331720"/>
            <a:ext cx="3246120" cy="658368"/>
          </a:xfrm>
          <a:prstGeom prst="rect">
            <a:avLst/>
          </a:prstGeom>
          <a:noFill/>
          <a:ln/>
        </p:spPr>
        <p:txBody>
          <a:bodyPr wrap="square" lIns="0" tIns="0" rIns="0" bIns="0" rtlCol="0" anchor="t"/>
          <a:lstStyle/>
          <a:p>
            <a:pPr marL="0" indent="0">
              <a:buNone/>
            </a:pPr>
            <a:r>
              <a:rPr lang="en-US" sz="1400" b="1" dirty="0">
                <a:solidFill>
                  <a:schemeClr val="tx1"/>
                </a:solidFill>
              </a:rPr>
              <a:t>Percentages</a:t>
            </a:r>
            <a:endParaRPr lang="en-US" sz="1400" dirty="0"/>
          </a:p>
          <a:p>
            <a:pPr marL="0" indent="0">
              <a:buNone/>
            </a:pPr>
            <a:r>
              <a:rPr lang="en-US" sz="1400" dirty="0">
                <a:solidFill>
                  <a:schemeClr val="tx2"/>
                </a:solidFill>
              </a:rPr>
              <a:t>Shares are comparable across junctions and times.</a:t>
            </a:r>
            <a:endParaRPr lang="en-US" sz="1400" dirty="0"/>
          </a:p>
        </p:txBody>
      </p:sp>
      <p:pic>
        <p:nvPicPr>
          <p:cNvPr id="9" name="check 2" descr="preencoded.png"/>
          <p:cNvPicPr>
            <a:picLocks noChangeAspect="1"/>
          </p:cNvPicPr>
          <p:nvPr/>
        </p:nvPicPr>
        <p:blipFill>
          <a:blip r:embed="rId3"/>
          <a:stretch>
            <a:fillRect/>
          </a:stretch>
        </p:blipFill>
        <p:spPr>
          <a:xfrm>
            <a:off x="5029200" y="3090672"/>
            <a:ext cx="274320" cy="274320"/>
          </a:xfrm>
          <a:prstGeom prst="rect">
            <a:avLst/>
          </a:prstGeom>
        </p:spPr>
      </p:pic>
      <p:sp>
        <p:nvSpPr>
          <p:cNvPr id="10" name="Text 4"/>
          <p:cNvSpPr txBox="1"/>
          <p:nvPr/>
        </p:nvSpPr>
        <p:spPr>
          <a:xfrm>
            <a:off x="5440680" y="3063240"/>
            <a:ext cx="3246120" cy="658368"/>
          </a:xfrm>
          <a:prstGeom prst="rect">
            <a:avLst/>
          </a:prstGeom>
          <a:noFill/>
          <a:ln/>
        </p:spPr>
        <p:txBody>
          <a:bodyPr wrap="square" lIns="0" tIns="0" rIns="0" bIns="0" rtlCol="0" anchor="t"/>
          <a:lstStyle/>
          <a:p>
            <a:pPr marL="0" indent="0">
              <a:buNone/>
            </a:pPr>
            <a:r>
              <a:rPr lang="en-US" sz="1400" b="1" dirty="0">
                <a:solidFill>
                  <a:schemeClr val="tx1"/>
                </a:solidFill>
              </a:rPr>
              <a:t>Time stamps</a:t>
            </a:r>
            <a:endParaRPr lang="en-US" sz="1400" dirty="0"/>
          </a:p>
          <a:p>
            <a:pPr marL="0" indent="0">
              <a:buNone/>
            </a:pPr>
            <a:r>
              <a:rPr lang="en-US" sz="1400" dirty="0">
                <a:solidFill>
                  <a:schemeClr val="tx2"/>
                </a:solidFill>
              </a:rPr>
              <a:t>Reveal peak hours when repeated every interval.</a:t>
            </a:r>
            <a:endParaRPr lang="en-US" sz="1400" dirty="0"/>
          </a:p>
        </p:txBody>
      </p:sp>
      <p:pic>
        <p:nvPicPr>
          <p:cNvPr id="11" name="check 3" descr="preencoded.png"/>
          <p:cNvPicPr>
            <a:picLocks noChangeAspect="1"/>
          </p:cNvPicPr>
          <p:nvPr/>
        </p:nvPicPr>
        <p:blipFill>
          <a:blip r:embed="rId3"/>
          <a:stretch>
            <a:fillRect/>
          </a:stretch>
        </p:blipFill>
        <p:spPr>
          <a:xfrm>
            <a:off x="5029200" y="3822192"/>
            <a:ext cx="274320" cy="274320"/>
          </a:xfrm>
          <a:prstGeom prst="rect">
            <a:avLst/>
          </a:prstGeom>
        </p:spPr>
      </p:pic>
      <p:sp>
        <p:nvSpPr>
          <p:cNvPr id="12" name="Text 5"/>
          <p:cNvSpPr txBox="1"/>
          <p:nvPr/>
        </p:nvSpPr>
        <p:spPr>
          <a:xfrm>
            <a:off x="5440680" y="3794760"/>
            <a:ext cx="3246120" cy="658368"/>
          </a:xfrm>
          <a:prstGeom prst="rect">
            <a:avLst/>
          </a:prstGeom>
          <a:noFill/>
          <a:ln/>
        </p:spPr>
        <p:txBody>
          <a:bodyPr wrap="square" lIns="0" tIns="0" rIns="0" bIns="0" rtlCol="0" anchor="t"/>
          <a:lstStyle/>
          <a:p>
            <a:pPr marL="0" indent="0">
              <a:buNone/>
            </a:pPr>
            <a:r>
              <a:rPr lang="en-US" sz="1400" b="1" dirty="0">
                <a:solidFill>
                  <a:schemeClr val="tx1"/>
                </a:solidFill>
              </a:rPr>
              <a:t>Confidence</a:t>
            </a:r>
            <a:endParaRPr lang="en-US" sz="1400" dirty="0"/>
          </a:p>
          <a:p>
            <a:pPr marL="0" indent="0">
              <a:buNone/>
            </a:pPr>
            <a:r>
              <a:rPr lang="en-US" sz="1400" dirty="0">
                <a:solidFill>
                  <a:schemeClr val="tx2"/>
                </a:solidFill>
              </a:rPr>
              <a:t>Flags frames that need a human check.</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Problem 2: Total Count and Motorcycle Share</a:t>
            </a:r>
            <a:endParaRPr lang="en-US" sz="3000" dirty="0"/>
          </a:p>
        </p:txBody>
      </p:sp>
      <p:sp>
        <p:nvSpPr>
          <p:cNvPr id="3" name="Text 1"/>
          <p:cNvSpPr txBox="1"/>
          <p:nvPr/>
        </p:nvSpPr>
        <p:spPr>
          <a:xfrm>
            <a:off x="457200" y="1005840"/>
            <a:ext cx="8229600" cy="365760"/>
          </a:xfrm>
          <a:prstGeom prst="rect">
            <a:avLst/>
          </a:prstGeom>
          <a:noFill/>
          <a:ln/>
        </p:spPr>
        <p:txBody>
          <a:bodyPr wrap="square" lIns="0" tIns="0" rIns="0" bIns="0" rtlCol="0" anchor="ctr"/>
          <a:lstStyle/>
          <a:p>
            <a:pPr marL="0" indent="0">
              <a:buNone/>
            </a:pPr>
            <a:r>
              <a:rPr lang="en-US" sz="1500" i="1" dirty="0">
                <a:solidFill>
                  <a:schemeClr val="tx2"/>
                </a:solidFill>
              </a:rPr>
              <a:t>Given: a frame contains 12 cars, 4 buses and 9 motorcycles.</a:t>
            </a:r>
            <a:endParaRPr lang="en-US" sz="1500" dirty="0"/>
          </a:p>
        </p:txBody>
      </p:sp>
      <p:sp>
        <p:nvSpPr>
          <p:cNvPr id="4" name="given card 0"/>
          <p:cNvSpPr/>
          <p:nvPr/>
        </p:nvSpPr>
        <p:spPr>
          <a:xfrm>
            <a:off x="457200" y="1554480"/>
            <a:ext cx="3108960" cy="841248"/>
          </a:xfrm>
          <a:prstGeom prst="roundRect">
            <a:avLst>
              <a:gd name="adj" fmla="val 8696"/>
            </a:avLst>
          </a:prstGeom>
          <a:solidFill>
            <a:schemeClr val="bg2"/>
          </a:solidFill>
          <a:ln w="12700">
            <a:solidFill>
              <a:schemeClr val="bg2"/>
            </a:solidFill>
            <a:prstDash val="solid"/>
          </a:ln>
        </p:spPr>
      </p:sp>
      <p:sp>
        <p:nvSpPr>
          <p:cNvPr id="5" name="given 0 circle"/>
          <p:cNvSpPr/>
          <p:nvPr/>
        </p:nvSpPr>
        <p:spPr>
          <a:xfrm>
            <a:off x="640080" y="1673352"/>
            <a:ext cx="603504" cy="603504"/>
          </a:xfrm>
          <a:prstGeom prst="ellipse">
            <a:avLst/>
          </a:prstGeom>
          <a:solidFill>
            <a:schemeClr val="accent1"/>
          </a:solidFill>
          <a:ln w="12700">
            <a:solidFill>
              <a:schemeClr val="accent1"/>
            </a:solidFill>
            <a:prstDash val="solid"/>
          </a:ln>
        </p:spPr>
      </p:sp>
      <p:pic>
        <p:nvPicPr>
          <p:cNvPr id="6" name="given 0 icon" descr="preencoded.png"/>
          <p:cNvPicPr>
            <a:picLocks noChangeAspect="1"/>
          </p:cNvPicPr>
          <p:nvPr/>
        </p:nvPicPr>
        <p:blipFill>
          <a:blip r:embed="rId3"/>
          <a:stretch>
            <a:fillRect/>
          </a:stretch>
        </p:blipFill>
        <p:spPr>
          <a:xfrm>
            <a:off x="790956" y="1824228"/>
            <a:ext cx="301752" cy="301752"/>
          </a:xfrm>
          <a:prstGeom prst="rect">
            <a:avLst/>
          </a:prstGeom>
        </p:spPr>
      </p:pic>
      <p:sp>
        <p:nvSpPr>
          <p:cNvPr id="7" name="Text 4"/>
          <p:cNvSpPr txBox="1"/>
          <p:nvPr/>
        </p:nvSpPr>
        <p:spPr>
          <a:xfrm>
            <a:off x="1417320" y="1554480"/>
            <a:ext cx="822960" cy="841248"/>
          </a:xfrm>
          <a:prstGeom prst="rect">
            <a:avLst/>
          </a:prstGeom>
          <a:noFill/>
          <a:ln/>
        </p:spPr>
        <p:txBody>
          <a:bodyPr wrap="square" lIns="0" tIns="0" rIns="0" bIns="0" rtlCol="0" anchor="ctr"/>
          <a:lstStyle/>
          <a:p>
            <a:pPr marL="0" indent="0">
              <a:buNone/>
            </a:pPr>
            <a:r>
              <a:rPr lang="en-US" sz="3200" b="1" dirty="0">
                <a:solidFill>
                  <a:schemeClr val="tx1"/>
                </a:solidFill>
              </a:rPr>
              <a:t>12</a:t>
            </a:r>
            <a:endParaRPr lang="en-US" sz="3200" dirty="0"/>
          </a:p>
        </p:txBody>
      </p:sp>
      <p:sp>
        <p:nvSpPr>
          <p:cNvPr id="8" name="Text 5"/>
          <p:cNvSpPr txBox="1"/>
          <p:nvPr/>
        </p:nvSpPr>
        <p:spPr>
          <a:xfrm>
            <a:off x="2194560" y="1554480"/>
            <a:ext cx="1280160" cy="841248"/>
          </a:xfrm>
          <a:prstGeom prst="rect">
            <a:avLst/>
          </a:prstGeom>
          <a:noFill/>
          <a:ln/>
        </p:spPr>
        <p:txBody>
          <a:bodyPr wrap="square" lIns="0" tIns="0" rIns="0" bIns="0" rtlCol="0" anchor="ctr"/>
          <a:lstStyle/>
          <a:p>
            <a:pPr marL="0" indent="0">
              <a:buNone/>
            </a:pPr>
            <a:r>
              <a:rPr lang="en-US" sz="1500" dirty="0">
                <a:solidFill>
                  <a:schemeClr val="tx2"/>
                </a:solidFill>
              </a:rPr>
              <a:t>Cars</a:t>
            </a:r>
            <a:endParaRPr lang="en-US" sz="1500" dirty="0"/>
          </a:p>
        </p:txBody>
      </p:sp>
      <p:sp>
        <p:nvSpPr>
          <p:cNvPr id="9" name="given card 1"/>
          <p:cNvSpPr/>
          <p:nvPr/>
        </p:nvSpPr>
        <p:spPr>
          <a:xfrm>
            <a:off x="457200" y="2542032"/>
            <a:ext cx="3108960" cy="841248"/>
          </a:xfrm>
          <a:prstGeom prst="roundRect">
            <a:avLst>
              <a:gd name="adj" fmla="val 8696"/>
            </a:avLst>
          </a:prstGeom>
          <a:solidFill>
            <a:schemeClr val="bg2"/>
          </a:solidFill>
          <a:ln w="12700">
            <a:solidFill>
              <a:schemeClr val="bg2"/>
            </a:solidFill>
            <a:prstDash val="solid"/>
          </a:ln>
        </p:spPr>
      </p:sp>
      <p:sp>
        <p:nvSpPr>
          <p:cNvPr id="10" name="given 1 circle"/>
          <p:cNvSpPr/>
          <p:nvPr/>
        </p:nvSpPr>
        <p:spPr>
          <a:xfrm>
            <a:off x="640080" y="2660904"/>
            <a:ext cx="603504" cy="603504"/>
          </a:xfrm>
          <a:prstGeom prst="ellipse">
            <a:avLst/>
          </a:prstGeom>
          <a:solidFill>
            <a:schemeClr val="accent4"/>
          </a:solidFill>
          <a:ln w="12700">
            <a:solidFill>
              <a:schemeClr val="accent4"/>
            </a:solidFill>
            <a:prstDash val="solid"/>
          </a:ln>
        </p:spPr>
      </p:sp>
      <p:pic>
        <p:nvPicPr>
          <p:cNvPr id="11" name="given 1 icon" descr="preencoded.png"/>
          <p:cNvPicPr>
            <a:picLocks noChangeAspect="1"/>
          </p:cNvPicPr>
          <p:nvPr/>
        </p:nvPicPr>
        <p:blipFill>
          <a:blip r:embed="rId4"/>
          <a:stretch>
            <a:fillRect/>
          </a:stretch>
        </p:blipFill>
        <p:spPr>
          <a:xfrm>
            <a:off x="790956" y="2811780"/>
            <a:ext cx="301752" cy="301752"/>
          </a:xfrm>
          <a:prstGeom prst="rect">
            <a:avLst/>
          </a:prstGeom>
        </p:spPr>
      </p:pic>
      <p:sp>
        <p:nvSpPr>
          <p:cNvPr id="12" name="Text 8"/>
          <p:cNvSpPr txBox="1"/>
          <p:nvPr/>
        </p:nvSpPr>
        <p:spPr>
          <a:xfrm>
            <a:off x="1417320" y="2542032"/>
            <a:ext cx="822960" cy="841248"/>
          </a:xfrm>
          <a:prstGeom prst="rect">
            <a:avLst/>
          </a:prstGeom>
          <a:noFill/>
          <a:ln/>
        </p:spPr>
        <p:txBody>
          <a:bodyPr wrap="square" lIns="0" tIns="0" rIns="0" bIns="0" rtlCol="0" anchor="ctr"/>
          <a:lstStyle/>
          <a:p>
            <a:pPr marL="0" indent="0">
              <a:buNone/>
            </a:pPr>
            <a:r>
              <a:rPr lang="en-US" sz="3200" b="1" dirty="0">
                <a:solidFill>
                  <a:schemeClr val="tx1"/>
                </a:solidFill>
              </a:rPr>
              <a:t>4</a:t>
            </a:r>
            <a:endParaRPr lang="en-US" sz="3200" dirty="0"/>
          </a:p>
        </p:txBody>
      </p:sp>
      <p:sp>
        <p:nvSpPr>
          <p:cNvPr id="13" name="Text 9"/>
          <p:cNvSpPr txBox="1"/>
          <p:nvPr/>
        </p:nvSpPr>
        <p:spPr>
          <a:xfrm>
            <a:off x="2194560" y="2542032"/>
            <a:ext cx="1280160" cy="841248"/>
          </a:xfrm>
          <a:prstGeom prst="rect">
            <a:avLst/>
          </a:prstGeom>
          <a:noFill/>
          <a:ln/>
        </p:spPr>
        <p:txBody>
          <a:bodyPr wrap="square" lIns="0" tIns="0" rIns="0" bIns="0" rtlCol="0" anchor="ctr"/>
          <a:lstStyle/>
          <a:p>
            <a:pPr marL="0" indent="0">
              <a:buNone/>
            </a:pPr>
            <a:r>
              <a:rPr lang="en-US" sz="1500" dirty="0">
                <a:solidFill>
                  <a:schemeClr val="tx2"/>
                </a:solidFill>
              </a:rPr>
              <a:t>Buses</a:t>
            </a:r>
            <a:endParaRPr lang="en-US" sz="1500" dirty="0"/>
          </a:p>
        </p:txBody>
      </p:sp>
      <p:sp>
        <p:nvSpPr>
          <p:cNvPr id="14" name="given card 2"/>
          <p:cNvSpPr/>
          <p:nvPr/>
        </p:nvSpPr>
        <p:spPr>
          <a:xfrm>
            <a:off x="457200" y="3529584"/>
            <a:ext cx="3108960" cy="841248"/>
          </a:xfrm>
          <a:prstGeom prst="roundRect">
            <a:avLst>
              <a:gd name="adj" fmla="val 8696"/>
            </a:avLst>
          </a:prstGeom>
          <a:solidFill>
            <a:schemeClr val="bg2"/>
          </a:solidFill>
          <a:ln w="12700">
            <a:solidFill>
              <a:schemeClr val="bg2"/>
            </a:solidFill>
            <a:prstDash val="solid"/>
          </a:ln>
        </p:spPr>
      </p:sp>
      <p:sp>
        <p:nvSpPr>
          <p:cNvPr id="15" name="given 2 circle"/>
          <p:cNvSpPr/>
          <p:nvPr/>
        </p:nvSpPr>
        <p:spPr>
          <a:xfrm>
            <a:off x="640080" y="3648456"/>
            <a:ext cx="603504" cy="603504"/>
          </a:xfrm>
          <a:prstGeom prst="ellipse">
            <a:avLst/>
          </a:prstGeom>
          <a:solidFill>
            <a:schemeClr val="accent2"/>
          </a:solidFill>
          <a:ln w="12700">
            <a:solidFill>
              <a:schemeClr val="accent2"/>
            </a:solidFill>
            <a:prstDash val="solid"/>
          </a:ln>
        </p:spPr>
      </p:sp>
      <p:pic>
        <p:nvPicPr>
          <p:cNvPr id="16" name="given 2 icon" descr="preencoded.png"/>
          <p:cNvPicPr>
            <a:picLocks noChangeAspect="1"/>
          </p:cNvPicPr>
          <p:nvPr/>
        </p:nvPicPr>
        <p:blipFill>
          <a:blip r:embed="rId5"/>
          <a:stretch>
            <a:fillRect/>
          </a:stretch>
        </p:blipFill>
        <p:spPr>
          <a:xfrm>
            <a:off x="790956" y="3799332"/>
            <a:ext cx="301752" cy="301752"/>
          </a:xfrm>
          <a:prstGeom prst="rect">
            <a:avLst/>
          </a:prstGeom>
        </p:spPr>
      </p:pic>
      <p:sp>
        <p:nvSpPr>
          <p:cNvPr id="17" name="Text 12"/>
          <p:cNvSpPr txBox="1"/>
          <p:nvPr/>
        </p:nvSpPr>
        <p:spPr>
          <a:xfrm>
            <a:off x="1417320" y="3529584"/>
            <a:ext cx="822960" cy="841248"/>
          </a:xfrm>
          <a:prstGeom prst="rect">
            <a:avLst/>
          </a:prstGeom>
          <a:noFill/>
          <a:ln/>
        </p:spPr>
        <p:txBody>
          <a:bodyPr wrap="square" lIns="0" tIns="0" rIns="0" bIns="0" rtlCol="0" anchor="ctr"/>
          <a:lstStyle/>
          <a:p>
            <a:pPr marL="0" indent="0">
              <a:buNone/>
            </a:pPr>
            <a:r>
              <a:rPr lang="en-US" sz="3200" b="1" dirty="0">
                <a:solidFill>
                  <a:schemeClr val="tx1"/>
                </a:solidFill>
              </a:rPr>
              <a:t>9</a:t>
            </a:r>
            <a:endParaRPr lang="en-US" sz="3200" dirty="0"/>
          </a:p>
        </p:txBody>
      </p:sp>
      <p:sp>
        <p:nvSpPr>
          <p:cNvPr id="18" name="Text 13"/>
          <p:cNvSpPr txBox="1"/>
          <p:nvPr/>
        </p:nvSpPr>
        <p:spPr>
          <a:xfrm>
            <a:off x="2194560" y="3529584"/>
            <a:ext cx="1280160" cy="841248"/>
          </a:xfrm>
          <a:prstGeom prst="rect">
            <a:avLst/>
          </a:prstGeom>
          <a:noFill/>
          <a:ln/>
        </p:spPr>
        <p:txBody>
          <a:bodyPr wrap="square" lIns="0" tIns="0" rIns="0" bIns="0" rtlCol="0" anchor="ctr"/>
          <a:lstStyle/>
          <a:p>
            <a:pPr marL="0" indent="0">
              <a:buNone/>
            </a:pPr>
            <a:r>
              <a:rPr lang="en-US" sz="1500" dirty="0">
                <a:solidFill>
                  <a:schemeClr val="tx2"/>
                </a:solidFill>
              </a:rPr>
              <a:t>Motorcycles</a:t>
            </a:r>
            <a:endParaRPr lang="en-US" sz="1500" dirty="0"/>
          </a:p>
        </p:txBody>
      </p:sp>
      <p:sp>
        <p:nvSpPr>
          <p:cNvPr id="19" name="step1 card"/>
          <p:cNvSpPr/>
          <p:nvPr/>
        </p:nvSpPr>
        <p:spPr>
          <a:xfrm>
            <a:off x="3840480" y="1554480"/>
            <a:ext cx="4846320" cy="1371600"/>
          </a:xfrm>
          <a:prstGeom prst="roundRect">
            <a:avLst>
              <a:gd name="adj" fmla="val 5333"/>
            </a:avLst>
          </a:prstGeom>
          <a:solidFill>
            <a:schemeClr val="bg1"/>
          </a:solidFill>
          <a:ln w="12700">
            <a:solidFill>
              <a:srgbClr val="D5D8DE"/>
            </a:solidFill>
            <a:prstDash val="solid"/>
          </a:ln>
          <a:effectLst>
            <a:outerShdw blurRad="76200" dist="25400" dir="5400000" algn="bl" rotWithShape="0">
              <a:srgbClr val="000000">
                <a:alpha val="12000"/>
              </a:srgbClr>
            </a:outerShdw>
          </a:effectLst>
        </p:spPr>
      </p:sp>
      <p:sp>
        <p:nvSpPr>
          <p:cNvPr id="20" name="Text 15"/>
          <p:cNvSpPr txBox="1"/>
          <p:nvPr/>
        </p:nvSpPr>
        <p:spPr>
          <a:xfrm>
            <a:off x="4069080" y="1645920"/>
            <a:ext cx="4480560" cy="1188720"/>
          </a:xfrm>
          <a:prstGeom prst="rect">
            <a:avLst/>
          </a:prstGeom>
          <a:noFill/>
          <a:ln/>
        </p:spPr>
        <p:txBody>
          <a:bodyPr wrap="square" lIns="0" tIns="0" rIns="0" bIns="0" rtlCol="0" anchor="ctr"/>
          <a:lstStyle/>
          <a:p>
            <a:pPr marL="0" indent="0">
              <a:buNone/>
            </a:pPr>
            <a:r>
              <a:rPr lang="en-US" sz="1500" b="1" dirty="0">
                <a:solidFill>
                  <a:schemeClr val="tx1"/>
                </a:solidFill>
              </a:rPr>
              <a:t>Step 1 – Total vehicle count</a:t>
            </a:r>
            <a:endParaRPr lang="en-US" sz="1500" dirty="0"/>
          </a:p>
          <a:p>
            <a:pPr marL="0" indent="0">
              <a:buNone/>
            </a:pPr>
            <a:r>
              <a:rPr lang="en-US" sz="1400" dirty="0">
                <a:solidFill>
                  <a:schemeClr val="tx2"/>
                </a:solidFill>
              </a:rPr>
              <a:t>Total = Cars + Buses + Motorcycles</a:t>
            </a:r>
            <a:endParaRPr lang="en-US" sz="1500" dirty="0"/>
          </a:p>
          <a:p>
            <a:pPr marL="0" indent="0">
              <a:buNone/>
            </a:pPr>
            <a:r>
              <a:rPr lang="en-US" sz="1400" dirty="0">
                <a:solidFill>
                  <a:schemeClr val="tx2"/>
                </a:solidFill>
              </a:rPr>
              <a:t>Total = 12 + 4 + 9 = </a:t>
            </a:r>
            <a:r>
              <a:rPr lang="en-US" sz="1600" b="1" dirty="0">
                <a:solidFill>
                  <a:schemeClr val="accent3"/>
                </a:solidFill>
              </a:rPr>
              <a:t>25 vehicles</a:t>
            </a:r>
            <a:endParaRPr lang="en-US" sz="1500" dirty="0"/>
          </a:p>
        </p:txBody>
      </p:sp>
      <p:sp>
        <p:nvSpPr>
          <p:cNvPr id="21" name="step2 card"/>
          <p:cNvSpPr/>
          <p:nvPr/>
        </p:nvSpPr>
        <p:spPr>
          <a:xfrm>
            <a:off x="3840480" y="3108960"/>
            <a:ext cx="4846320" cy="1463040"/>
          </a:xfrm>
          <a:prstGeom prst="roundRect">
            <a:avLst>
              <a:gd name="adj" fmla="val 5000"/>
            </a:avLst>
          </a:prstGeom>
          <a:solidFill>
            <a:schemeClr val="bg1"/>
          </a:solidFill>
          <a:ln w="12700">
            <a:solidFill>
              <a:srgbClr val="D5D8DE"/>
            </a:solidFill>
            <a:prstDash val="solid"/>
          </a:ln>
          <a:effectLst>
            <a:outerShdw blurRad="76200" dist="25400" dir="5400000" algn="bl" rotWithShape="0">
              <a:srgbClr val="000000">
                <a:alpha val="12000"/>
              </a:srgbClr>
            </a:outerShdw>
          </a:effectLst>
        </p:spPr>
      </p:sp>
      <p:sp>
        <p:nvSpPr>
          <p:cNvPr id="22" name="Text 17"/>
          <p:cNvSpPr txBox="1"/>
          <p:nvPr/>
        </p:nvSpPr>
        <p:spPr>
          <a:xfrm>
            <a:off x="4069080" y="3200400"/>
            <a:ext cx="4480560" cy="1280160"/>
          </a:xfrm>
          <a:prstGeom prst="rect">
            <a:avLst/>
          </a:prstGeom>
          <a:noFill/>
          <a:ln/>
        </p:spPr>
        <p:txBody>
          <a:bodyPr wrap="square" lIns="0" tIns="0" rIns="0" bIns="0" rtlCol="0" anchor="ctr"/>
          <a:lstStyle/>
          <a:p>
            <a:pPr marL="0" indent="0">
              <a:buNone/>
            </a:pPr>
            <a:r>
              <a:rPr lang="en-US" sz="1500" b="1" dirty="0">
                <a:solidFill>
                  <a:schemeClr val="tx1"/>
                </a:solidFill>
              </a:rPr>
              <a:t>Step 2 – Motorcycle percentage</a:t>
            </a:r>
            <a:endParaRPr lang="en-US" sz="1500" dirty="0"/>
          </a:p>
          <a:p>
            <a:pPr marL="0" indent="0">
              <a:buNone/>
            </a:pPr>
            <a:r>
              <a:rPr lang="en-US" sz="1400" dirty="0">
                <a:solidFill>
                  <a:schemeClr val="tx2"/>
                </a:solidFill>
              </a:rPr>
              <a:t>% = (Motorcycles ÷ Total) × 100</a:t>
            </a:r>
            <a:endParaRPr lang="en-US" sz="1500" dirty="0"/>
          </a:p>
          <a:p>
            <a:pPr marL="0" indent="0">
              <a:buNone/>
            </a:pPr>
            <a:r>
              <a:rPr lang="en-US" sz="1400" dirty="0">
                <a:solidFill>
                  <a:schemeClr val="tx2"/>
                </a:solidFill>
              </a:rPr>
              <a:t>% = (9 ÷ 25) × 100 = 0.36 × 100 = </a:t>
            </a:r>
            <a:r>
              <a:rPr lang="en-US" sz="1600" b="1" dirty="0">
                <a:solidFill>
                  <a:schemeClr val="accent3"/>
                </a:solidFill>
              </a:rPr>
              <a:t>36%</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Interpreting the Result</a:t>
            </a:r>
            <a:endParaRPr lang="en-US" sz="3000" dirty="0"/>
          </a:p>
        </p:txBody>
      </p:sp>
      <p:graphicFrame>
        <p:nvGraphicFramePr>
          <p:cNvPr id="3" name="Chart 0"/>
          <p:cNvGraphicFramePr/>
          <p:nvPr/>
        </p:nvGraphicFramePr>
        <p:xfrm>
          <a:off x="365760" y="1051560"/>
          <a:ext cx="40233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4754880" y="1051560"/>
            <a:ext cx="2011680" cy="868680"/>
          </a:xfrm>
          <a:prstGeom prst="rect">
            <a:avLst/>
          </a:prstGeom>
          <a:noFill/>
          <a:ln/>
        </p:spPr>
        <p:txBody>
          <a:bodyPr wrap="square" lIns="0" tIns="0" rIns="0" bIns="0" rtlCol="0" anchor="ctr"/>
          <a:lstStyle/>
          <a:p>
            <a:pPr marL="0" indent="0">
              <a:buNone/>
            </a:pPr>
            <a:r>
              <a:rPr lang="en-US" sz="6000" b="1" dirty="0">
                <a:solidFill>
                  <a:schemeClr val="accent2"/>
                </a:solidFill>
              </a:rPr>
              <a:t>36%</a:t>
            </a:r>
            <a:endParaRPr lang="en-US" sz="6000" dirty="0"/>
          </a:p>
        </p:txBody>
      </p:sp>
      <p:sp>
        <p:nvSpPr>
          <p:cNvPr id="5" name="Text 2"/>
          <p:cNvSpPr txBox="1"/>
          <p:nvPr/>
        </p:nvSpPr>
        <p:spPr>
          <a:xfrm>
            <a:off x="6675120" y="1188720"/>
            <a:ext cx="2011680" cy="731520"/>
          </a:xfrm>
          <a:prstGeom prst="rect">
            <a:avLst/>
          </a:prstGeom>
          <a:noFill/>
          <a:ln/>
        </p:spPr>
        <p:txBody>
          <a:bodyPr wrap="square" lIns="0" tIns="0" rIns="0" bIns="0" rtlCol="0" anchor="ctr"/>
          <a:lstStyle/>
          <a:p>
            <a:pPr marL="0" indent="0">
              <a:buNone/>
            </a:pPr>
            <a:r>
              <a:rPr lang="en-US" sz="1300" dirty="0">
                <a:solidFill>
                  <a:schemeClr val="tx2"/>
                </a:solidFill>
              </a:rPr>
              <a:t>of all vehicles are motorcycles, the second-largest group after cars (48%).</a:t>
            </a:r>
            <a:endParaRPr lang="en-US" sz="1300" dirty="0"/>
          </a:p>
        </p:txBody>
      </p:sp>
      <p:sp>
        <p:nvSpPr>
          <p:cNvPr id="6" name="Text 3"/>
          <p:cNvSpPr txBox="1"/>
          <p:nvPr/>
        </p:nvSpPr>
        <p:spPr>
          <a:xfrm>
            <a:off x="4754880" y="2148840"/>
            <a:ext cx="3931920" cy="2423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More than 1 in 3 vehicles is a two-wheeler, so lane design and signal timing must account for them.</a:t>
            </a:r>
            <a:endParaRPr lang="en-US" sz="1400" dirty="0"/>
          </a:p>
          <a:p>
            <a:pPr marL="342900" indent="-342900">
              <a:spcAft>
                <a:spcPts val="800"/>
              </a:spcAft>
              <a:buSzPct val="100000"/>
              <a:buChar char="•"/>
            </a:pPr>
            <a:r>
              <a:rPr lang="en-US" sz="1400" dirty="0">
                <a:solidFill>
                  <a:schemeClr val="tx1"/>
                </a:solidFill>
              </a:rPr>
              <a:t>Motorcycles are small and often hidden behind cars or buses, so they are the class most likely to be missed; the detector must be tested on them specifically.</a:t>
            </a:r>
            <a:endParaRPr lang="en-US" sz="1400" dirty="0"/>
          </a:p>
          <a:p>
            <a:pPr marL="342900" indent="-342900">
              <a:spcAft>
                <a:spcPts val="800"/>
              </a:spcAft>
              <a:buSzPct val="100000"/>
              <a:buChar char="•"/>
            </a:pPr>
            <a:r>
              <a:rPr lang="en-US" sz="1400" dirty="0">
                <a:solidFill>
                  <a:schemeClr val="tx1"/>
                </a:solidFill>
              </a:rPr>
              <a:t>This is one frame. Reliable conclusions need counts over many frames and time periods.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Python / OpenCV Demonstration</a:t>
            </a:r>
            <a:endParaRPr lang="en-US" sz="3000" dirty="0"/>
          </a:p>
        </p:txBody>
      </p:sp>
      <p:sp>
        <p:nvSpPr>
          <p:cNvPr id="3" name="code panel"/>
          <p:cNvSpPr/>
          <p:nvPr/>
        </p:nvSpPr>
        <p:spPr>
          <a:xfrm>
            <a:off x="457200" y="1051560"/>
            <a:ext cx="5394960" cy="3566160"/>
          </a:xfrm>
          <a:prstGeom prst="roundRect">
            <a:avLst>
              <a:gd name="adj" fmla="val 1538"/>
            </a:avLst>
          </a:prstGeom>
          <a:solidFill>
            <a:schemeClr val="tx1"/>
          </a:solidFill>
          <a:ln w="12700">
            <a:solidFill>
              <a:schemeClr val="tx1"/>
            </a:solidFill>
            <a:prstDash val="solid"/>
          </a:ln>
        </p:spPr>
      </p:sp>
      <p:sp>
        <p:nvSpPr>
          <p:cNvPr id="4" name="Text 2"/>
          <p:cNvSpPr txBox="1"/>
          <p:nvPr/>
        </p:nvSpPr>
        <p:spPr>
          <a:xfrm>
            <a:off x="594360" y="1143000"/>
            <a:ext cx="5166360" cy="3383280"/>
          </a:xfrm>
          <a:prstGeom prst="rect">
            <a:avLst/>
          </a:prstGeom>
          <a:noFill/>
          <a:ln/>
        </p:spPr>
        <p:txBody>
          <a:bodyPr wrap="square" lIns="0" tIns="0" rIns="0" bIns="0" rtlCol="0" anchor="t"/>
          <a:lstStyle/>
          <a:p>
            <a:pPr marL="0" indent="0">
              <a:buNone/>
            </a:pPr>
            <a:r>
              <a:rPr lang="en-US" sz="950" dirty="0">
                <a:solidFill>
                  <a:srgbClr val="E6E8EC"/>
                </a:solidFill>
                <a:latin typeface="Courier New" pitchFamily="34" charset="0"/>
                <a:ea typeface="Courier New" pitchFamily="34" charset="-122"/>
                <a:cs typeface="Courier New" pitchFamily="34" charset="-120"/>
              </a:rPr>
              <a:t>import cv2</a:t>
            </a: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from ultralytics import YOLO</a:t>
            </a:r>
            <a:endParaRPr lang="en-US" sz="950" dirty="0"/>
          </a:p>
          <a:p>
            <a:pPr marL="0" indent="0">
              <a:buNone/>
            </a:pP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model = YOLO("yolov8n.pt")        # pretrained on COCO</a:t>
            </a: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frame = cv2.imread("road.jpg")</a:t>
            </a: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result = model(frame, conf=0.5)[0]</a:t>
            </a:r>
            <a:endParaRPr lang="en-US" sz="950" dirty="0"/>
          </a:p>
          <a:p>
            <a:pPr marL="0" indent="0">
              <a:buNone/>
            </a:pP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classes = {2: "car", 5: "bus", 3: "motorcycle"}</a:t>
            </a: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counts = {name: 0 for name in classes.values()}</a:t>
            </a:r>
            <a:endParaRPr lang="en-US" sz="950" dirty="0"/>
          </a:p>
          <a:p>
            <a:pPr marL="0" indent="0">
              <a:buNone/>
            </a:pP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for box in result.boxes:</a:t>
            </a: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    c = int(box.cls)</a:t>
            </a: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    if c in classes:</a:t>
            </a: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        counts[classes[c]] += 1</a:t>
            </a: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        x1, y1, x2, y2 = map(int, box.xyxy[0])</a:t>
            </a: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        cv2.rectangle(frame, (x1, y1), (x2, y2), (0, 255, 0), 2)</a:t>
            </a:r>
            <a:endParaRPr lang="en-US" sz="950" dirty="0"/>
          </a:p>
          <a:p>
            <a:pPr marL="0" indent="0">
              <a:buNone/>
            </a:pP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total = sum(counts.values())</a:t>
            </a: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for name, n in counts.items():</a:t>
            </a: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    print(f"{name}: {n} ({n / total * 100:.1f}%)")</a:t>
            </a:r>
            <a:endParaRPr lang="en-US" sz="950" dirty="0"/>
          </a:p>
          <a:p>
            <a:pPr marL="0" indent="0">
              <a:buNone/>
            </a:pPr>
            <a:r>
              <a:rPr lang="en-US" sz="950" dirty="0">
                <a:solidFill>
                  <a:srgbClr val="E6E8EC"/>
                </a:solidFill>
                <a:latin typeface="Courier New" pitchFamily="34" charset="0"/>
                <a:ea typeface="Courier New" pitchFamily="34" charset="-122"/>
                <a:cs typeface="Courier New" pitchFamily="34" charset="-120"/>
              </a:rPr>
              <a:t>print("Total:", total)</a:t>
            </a:r>
            <a:endParaRPr lang="en-US" sz="950" dirty="0"/>
          </a:p>
        </p:txBody>
      </p:sp>
      <p:sp>
        <p:nvSpPr>
          <p:cNvPr id="5" name="output panel"/>
          <p:cNvSpPr/>
          <p:nvPr/>
        </p:nvSpPr>
        <p:spPr>
          <a:xfrm>
            <a:off x="6126480" y="1051560"/>
            <a:ext cx="2560320" cy="1600200"/>
          </a:xfrm>
          <a:prstGeom prst="roundRect">
            <a:avLst>
              <a:gd name="adj" fmla="val 3429"/>
            </a:avLst>
          </a:prstGeom>
          <a:solidFill>
            <a:schemeClr val="bg2"/>
          </a:solidFill>
          <a:ln w="12700">
            <a:solidFill>
              <a:schemeClr val="bg2"/>
            </a:solidFill>
            <a:prstDash val="solid"/>
          </a:ln>
        </p:spPr>
      </p:sp>
      <p:sp>
        <p:nvSpPr>
          <p:cNvPr id="6" name="Text 4"/>
          <p:cNvSpPr txBox="1"/>
          <p:nvPr/>
        </p:nvSpPr>
        <p:spPr>
          <a:xfrm>
            <a:off x="6263640" y="1143000"/>
            <a:ext cx="2331720" cy="1417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Output for the given frame</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car: 12 (48.0%)</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bus: 4 (16.0%)</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motorcycle: 9 (36.0%)</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Total: 25</a:t>
            </a:r>
            <a:endParaRPr lang="en-US" sz="1100" dirty="0"/>
          </a:p>
        </p:txBody>
      </p:sp>
      <p:sp>
        <p:nvSpPr>
          <p:cNvPr id="7" name="Text 5"/>
          <p:cNvSpPr txBox="1"/>
          <p:nvPr/>
        </p:nvSpPr>
        <p:spPr>
          <a:xfrm>
            <a:off x="6126480" y="2834640"/>
            <a:ext cx="2560320" cy="1783080"/>
          </a:xfrm>
          <a:prstGeom prst="rect">
            <a:avLst/>
          </a:prstGeom>
          <a:noFill/>
          <a:ln/>
        </p:spPr>
        <p:txBody>
          <a:bodyPr wrap="square" lIns="0" tIns="0" rIns="0" bIns="0" rtlCol="0" anchor="t"/>
          <a:lstStyle/>
          <a:p>
            <a:pPr marL="0" indent="0">
              <a:buNone/>
            </a:pPr>
            <a:r>
              <a:rPr lang="en-US" sz="1300" dirty="0">
                <a:solidFill>
                  <a:schemeClr val="tx2"/>
                </a:solidFill>
              </a:rPr>
              <a:t>COCO class IDs 2, 3 and 5 map to car, motorcycle and bus. The confidence threshold (0.5) filters weak detections, and the same counts give the Problem 2 percentages.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Challenges and Limitations</a:t>
            </a:r>
            <a:endParaRPr lang="en-US" sz="3000" dirty="0"/>
          </a:p>
        </p:txBody>
      </p:sp>
      <p:sp>
        <p:nvSpPr>
          <p:cNvPr id="3" name="challenge card 0"/>
          <p:cNvSpPr/>
          <p:nvPr/>
        </p:nvSpPr>
        <p:spPr>
          <a:xfrm>
            <a:off x="457200" y="1097280"/>
            <a:ext cx="4023360" cy="1051560"/>
          </a:xfrm>
          <a:prstGeom prst="roundRect">
            <a:avLst>
              <a:gd name="adj" fmla="val 6957"/>
            </a:avLst>
          </a:prstGeom>
          <a:solidFill>
            <a:schemeClr val="bg2"/>
          </a:solidFill>
          <a:ln w="12700">
            <a:solidFill>
              <a:schemeClr val="bg2"/>
            </a:solidFill>
            <a:prstDash val="solid"/>
          </a:ln>
        </p:spPr>
      </p:sp>
      <p:sp>
        <p:nvSpPr>
          <p:cNvPr id="4" name="challenge 0 circle"/>
          <p:cNvSpPr/>
          <p:nvPr/>
        </p:nvSpPr>
        <p:spPr>
          <a:xfrm>
            <a:off x="640080" y="1316736"/>
            <a:ext cx="603504" cy="603504"/>
          </a:xfrm>
          <a:prstGeom prst="ellipse">
            <a:avLst/>
          </a:prstGeom>
          <a:solidFill>
            <a:schemeClr val="accent3"/>
          </a:solidFill>
          <a:ln w="12700">
            <a:solidFill>
              <a:schemeClr val="accent3"/>
            </a:solidFill>
            <a:prstDash val="solid"/>
          </a:ln>
        </p:spPr>
      </p:sp>
      <p:pic>
        <p:nvPicPr>
          <p:cNvPr id="5" name="challenge 0 icon" descr="preencoded.png"/>
          <p:cNvPicPr>
            <a:picLocks noChangeAspect="1"/>
          </p:cNvPicPr>
          <p:nvPr/>
        </p:nvPicPr>
        <p:blipFill>
          <a:blip r:embed="rId3"/>
          <a:stretch>
            <a:fillRect/>
          </a:stretch>
        </p:blipFill>
        <p:spPr>
          <a:xfrm>
            <a:off x="790956" y="1467612"/>
            <a:ext cx="301752" cy="301752"/>
          </a:xfrm>
          <a:prstGeom prst="rect">
            <a:avLst/>
          </a:prstGeom>
        </p:spPr>
      </p:pic>
      <p:sp>
        <p:nvSpPr>
          <p:cNvPr id="6" name="Text 3"/>
          <p:cNvSpPr txBox="1"/>
          <p:nvPr/>
        </p:nvSpPr>
        <p:spPr>
          <a:xfrm>
            <a:off x="1417320" y="1170432"/>
            <a:ext cx="2926080" cy="914400"/>
          </a:xfrm>
          <a:prstGeom prst="rect">
            <a:avLst/>
          </a:prstGeom>
          <a:noFill/>
          <a:ln/>
        </p:spPr>
        <p:txBody>
          <a:bodyPr wrap="square" lIns="0" tIns="0" rIns="0" bIns="0" rtlCol="0" anchor="ctr"/>
          <a:lstStyle/>
          <a:p>
            <a:pPr marL="0" indent="0">
              <a:buNone/>
            </a:pPr>
            <a:r>
              <a:rPr lang="en-US" sz="1500" b="1" dirty="0">
                <a:solidFill>
                  <a:schemeClr val="tx1"/>
                </a:solidFill>
              </a:rPr>
              <a:t>Occlusion</a:t>
            </a:r>
            <a:endParaRPr lang="en-US" sz="1500" dirty="0"/>
          </a:p>
          <a:p>
            <a:pPr marL="0" indent="0">
              <a:buNone/>
            </a:pPr>
            <a:r>
              <a:rPr lang="en-US" sz="1300" dirty="0">
                <a:solidFill>
                  <a:schemeClr val="tx2"/>
                </a:solidFill>
              </a:rPr>
              <a:t>Vehicles hidden behind buses or trucks may be missed or merged into one box.</a:t>
            </a:r>
            <a:endParaRPr lang="en-US" sz="1500" dirty="0"/>
          </a:p>
        </p:txBody>
      </p:sp>
      <p:sp>
        <p:nvSpPr>
          <p:cNvPr id="7" name="challenge card 1"/>
          <p:cNvSpPr/>
          <p:nvPr/>
        </p:nvSpPr>
        <p:spPr>
          <a:xfrm>
            <a:off x="4663440" y="1097280"/>
            <a:ext cx="4023360" cy="1051560"/>
          </a:xfrm>
          <a:prstGeom prst="roundRect">
            <a:avLst>
              <a:gd name="adj" fmla="val 6957"/>
            </a:avLst>
          </a:prstGeom>
          <a:solidFill>
            <a:schemeClr val="bg2"/>
          </a:solidFill>
          <a:ln w="12700">
            <a:solidFill>
              <a:schemeClr val="bg2"/>
            </a:solidFill>
            <a:prstDash val="solid"/>
          </a:ln>
        </p:spPr>
      </p:sp>
      <p:sp>
        <p:nvSpPr>
          <p:cNvPr id="8" name="challenge 1 circle"/>
          <p:cNvSpPr/>
          <p:nvPr/>
        </p:nvSpPr>
        <p:spPr>
          <a:xfrm>
            <a:off x="4846320" y="1316736"/>
            <a:ext cx="603504" cy="603504"/>
          </a:xfrm>
          <a:prstGeom prst="ellipse">
            <a:avLst/>
          </a:prstGeom>
          <a:solidFill>
            <a:schemeClr val="accent6"/>
          </a:solidFill>
          <a:ln w="12700">
            <a:solidFill>
              <a:schemeClr val="accent6"/>
            </a:solidFill>
            <a:prstDash val="solid"/>
          </a:ln>
        </p:spPr>
      </p:sp>
      <p:pic>
        <p:nvPicPr>
          <p:cNvPr id="9" name="challenge 1 icon" descr="preencoded.png"/>
          <p:cNvPicPr>
            <a:picLocks noChangeAspect="1"/>
          </p:cNvPicPr>
          <p:nvPr/>
        </p:nvPicPr>
        <p:blipFill>
          <a:blip r:embed="rId4"/>
          <a:stretch>
            <a:fillRect/>
          </a:stretch>
        </p:blipFill>
        <p:spPr>
          <a:xfrm>
            <a:off x="4997196" y="1467612"/>
            <a:ext cx="301752" cy="301752"/>
          </a:xfrm>
          <a:prstGeom prst="rect">
            <a:avLst/>
          </a:prstGeom>
        </p:spPr>
      </p:pic>
      <p:sp>
        <p:nvSpPr>
          <p:cNvPr id="10" name="Text 6"/>
          <p:cNvSpPr txBox="1"/>
          <p:nvPr/>
        </p:nvSpPr>
        <p:spPr>
          <a:xfrm>
            <a:off x="5623560" y="1170432"/>
            <a:ext cx="2926080" cy="914400"/>
          </a:xfrm>
          <a:prstGeom prst="rect">
            <a:avLst/>
          </a:prstGeom>
          <a:noFill/>
          <a:ln/>
        </p:spPr>
        <p:txBody>
          <a:bodyPr wrap="square" lIns="0" tIns="0" rIns="0" bIns="0" rtlCol="0" anchor="ctr"/>
          <a:lstStyle/>
          <a:p>
            <a:pPr marL="0" indent="0">
              <a:buNone/>
            </a:pPr>
            <a:r>
              <a:rPr lang="en-US" sz="1500" b="1" dirty="0">
                <a:solidFill>
                  <a:schemeClr val="tx1"/>
                </a:solidFill>
              </a:rPr>
              <a:t>Lighting &amp; night</a:t>
            </a:r>
            <a:endParaRPr lang="en-US" sz="1500" dirty="0"/>
          </a:p>
          <a:p>
            <a:pPr marL="0" indent="0">
              <a:buNone/>
            </a:pPr>
            <a:r>
              <a:rPr lang="en-US" sz="1300" dirty="0">
                <a:solidFill>
                  <a:schemeClr val="tx2"/>
                </a:solidFill>
              </a:rPr>
              <a:t>Headlight glare, shadows and low light reduce detection confidence.</a:t>
            </a:r>
            <a:endParaRPr lang="en-US" sz="1500" dirty="0"/>
          </a:p>
        </p:txBody>
      </p:sp>
      <p:sp>
        <p:nvSpPr>
          <p:cNvPr id="11" name="challenge card 2"/>
          <p:cNvSpPr/>
          <p:nvPr/>
        </p:nvSpPr>
        <p:spPr>
          <a:xfrm>
            <a:off x="457200" y="2286000"/>
            <a:ext cx="4023360" cy="1051560"/>
          </a:xfrm>
          <a:prstGeom prst="roundRect">
            <a:avLst>
              <a:gd name="adj" fmla="val 6957"/>
            </a:avLst>
          </a:prstGeom>
          <a:solidFill>
            <a:schemeClr val="bg2"/>
          </a:solidFill>
          <a:ln w="12700">
            <a:solidFill>
              <a:schemeClr val="bg2"/>
            </a:solidFill>
            <a:prstDash val="solid"/>
          </a:ln>
        </p:spPr>
      </p:sp>
      <p:sp>
        <p:nvSpPr>
          <p:cNvPr id="12" name="challenge 2 circle"/>
          <p:cNvSpPr/>
          <p:nvPr/>
        </p:nvSpPr>
        <p:spPr>
          <a:xfrm>
            <a:off x="640080" y="2505456"/>
            <a:ext cx="603504" cy="603504"/>
          </a:xfrm>
          <a:prstGeom prst="ellipse">
            <a:avLst/>
          </a:prstGeom>
          <a:solidFill>
            <a:schemeClr val="accent4"/>
          </a:solidFill>
          <a:ln w="12700">
            <a:solidFill>
              <a:schemeClr val="accent4"/>
            </a:solidFill>
            <a:prstDash val="solid"/>
          </a:ln>
        </p:spPr>
      </p:sp>
      <p:pic>
        <p:nvPicPr>
          <p:cNvPr id="13" name="challenge 2 icon" descr="preencoded.png"/>
          <p:cNvPicPr>
            <a:picLocks noChangeAspect="1"/>
          </p:cNvPicPr>
          <p:nvPr/>
        </p:nvPicPr>
        <p:blipFill>
          <a:blip r:embed="rId5"/>
          <a:stretch>
            <a:fillRect/>
          </a:stretch>
        </p:blipFill>
        <p:spPr>
          <a:xfrm>
            <a:off x="790956" y="2656332"/>
            <a:ext cx="301752" cy="301752"/>
          </a:xfrm>
          <a:prstGeom prst="rect">
            <a:avLst/>
          </a:prstGeom>
        </p:spPr>
      </p:pic>
      <p:sp>
        <p:nvSpPr>
          <p:cNvPr id="14" name="Text 9"/>
          <p:cNvSpPr txBox="1"/>
          <p:nvPr/>
        </p:nvSpPr>
        <p:spPr>
          <a:xfrm>
            <a:off x="1417320" y="2359152"/>
            <a:ext cx="2926080" cy="914400"/>
          </a:xfrm>
          <a:prstGeom prst="rect">
            <a:avLst/>
          </a:prstGeom>
          <a:noFill/>
          <a:ln/>
        </p:spPr>
        <p:txBody>
          <a:bodyPr wrap="square" lIns="0" tIns="0" rIns="0" bIns="0" rtlCol="0" anchor="ctr"/>
          <a:lstStyle/>
          <a:p>
            <a:pPr marL="0" indent="0">
              <a:buNone/>
            </a:pPr>
            <a:r>
              <a:rPr lang="en-US" sz="1500" b="1" dirty="0">
                <a:solidFill>
                  <a:schemeClr val="tx1"/>
                </a:solidFill>
              </a:rPr>
              <a:t>Weather</a:t>
            </a:r>
            <a:endParaRPr lang="en-US" sz="1500" dirty="0"/>
          </a:p>
          <a:p>
            <a:pPr marL="0" indent="0">
              <a:buNone/>
            </a:pPr>
            <a:r>
              <a:rPr lang="en-US" sz="1300" dirty="0">
                <a:solidFill>
                  <a:schemeClr val="tx2"/>
                </a:solidFill>
              </a:rPr>
              <a:t>Rain, fog and dirty lenses blur the image and hide small vehicles.</a:t>
            </a:r>
            <a:endParaRPr lang="en-US" sz="1500" dirty="0"/>
          </a:p>
        </p:txBody>
      </p:sp>
      <p:sp>
        <p:nvSpPr>
          <p:cNvPr id="15" name="challenge card 3"/>
          <p:cNvSpPr/>
          <p:nvPr/>
        </p:nvSpPr>
        <p:spPr>
          <a:xfrm>
            <a:off x="4663440" y="2286000"/>
            <a:ext cx="4023360" cy="1051560"/>
          </a:xfrm>
          <a:prstGeom prst="roundRect">
            <a:avLst>
              <a:gd name="adj" fmla="val 6957"/>
            </a:avLst>
          </a:prstGeom>
          <a:solidFill>
            <a:schemeClr val="bg2"/>
          </a:solidFill>
          <a:ln w="12700">
            <a:solidFill>
              <a:schemeClr val="bg2"/>
            </a:solidFill>
            <a:prstDash val="solid"/>
          </a:ln>
        </p:spPr>
      </p:sp>
      <p:sp>
        <p:nvSpPr>
          <p:cNvPr id="16" name="challenge 3 circle"/>
          <p:cNvSpPr/>
          <p:nvPr/>
        </p:nvSpPr>
        <p:spPr>
          <a:xfrm>
            <a:off x="4846320" y="2505456"/>
            <a:ext cx="603504" cy="603504"/>
          </a:xfrm>
          <a:prstGeom prst="ellipse">
            <a:avLst/>
          </a:prstGeom>
          <a:solidFill>
            <a:schemeClr val="accent1"/>
          </a:solidFill>
          <a:ln w="12700">
            <a:solidFill>
              <a:schemeClr val="accent1"/>
            </a:solidFill>
            <a:prstDash val="solid"/>
          </a:ln>
        </p:spPr>
      </p:sp>
      <p:pic>
        <p:nvPicPr>
          <p:cNvPr id="17" name="challenge 3 icon" descr="preencoded.png"/>
          <p:cNvPicPr>
            <a:picLocks noChangeAspect="1"/>
          </p:cNvPicPr>
          <p:nvPr/>
        </p:nvPicPr>
        <p:blipFill>
          <a:blip r:embed="rId6"/>
          <a:stretch>
            <a:fillRect/>
          </a:stretch>
        </p:blipFill>
        <p:spPr>
          <a:xfrm>
            <a:off x="4997196" y="2656332"/>
            <a:ext cx="301752" cy="301752"/>
          </a:xfrm>
          <a:prstGeom prst="rect">
            <a:avLst/>
          </a:prstGeom>
        </p:spPr>
      </p:pic>
      <p:sp>
        <p:nvSpPr>
          <p:cNvPr id="18" name="Text 12"/>
          <p:cNvSpPr txBox="1"/>
          <p:nvPr/>
        </p:nvSpPr>
        <p:spPr>
          <a:xfrm>
            <a:off x="5623560" y="2359152"/>
            <a:ext cx="2926080" cy="914400"/>
          </a:xfrm>
          <a:prstGeom prst="rect">
            <a:avLst/>
          </a:prstGeom>
          <a:noFill/>
          <a:ln/>
        </p:spPr>
        <p:txBody>
          <a:bodyPr wrap="square" lIns="0" tIns="0" rIns="0" bIns="0" rtlCol="0" anchor="ctr"/>
          <a:lstStyle/>
          <a:p>
            <a:pPr marL="0" indent="0">
              <a:buNone/>
            </a:pPr>
            <a:r>
              <a:rPr lang="en-US" sz="1500" b="1" dirty="0">
                <a:solidFill>
                  <a:schemeClr val="tx1"/>
                </a:solidFill>
              </a:rPr>
              <a:t>Look-alike classes</a:t>
            </a:r>
            <a:endParaRPr lang="en-US" sz="1500" dirty="0"/>
          </a:p>
          <a:p>
            <a:pPr marL="0" indent="0">
              <a:buNone/>
            </a:pPr>
            <a:r>
              <a:rPr lang="en-US" sz="1300" dirty="0">
                <a:solidFill>
                  <a:schemeClr val="tx2"/>
                </a:solidFill>
              </a:rPr>
              <a:t>Vans vs cars or autorickshaws vs motorcycles can be misclassified.</a:t>
            </a:r>
            <a:endParaRPr lang="en-US" sz="1500" dirty="0"/>
          </a:p>
        </p:txBody>
      </p:sp>
      <p:sp>
        <p:nvSpPr>
          <p:cNvPr id="19" name="challenge card 4"/>
          <p:cNvSpPr/>
          <p:nvPr/>
        </p:nvSpPr>
        <p:spPr>
          <a:xfrm>
            <a:off x="457200" y="3474720"/>
            <a:ext cx="4023360" cy="1051560"/>
          </a:xfrm>
          <a:prstGeom prst="roundRect">
            <a:avLst>
              <a:gd name="adj" fmla="val 6957"/>
            </a:avLst>
          </a:prstGeom>
          <a:solidFill>
            <a:schemeClr val="bg2"/>
          </a:solidFill>
          <a:ln w="12700">
            <a:solidFill>
              <a:schemeClr val="bg2"/>
            </a:solidFill>
            <a:prstDash val="solid"/>
          </a:ln>
        </p:spPr>
      </p:sp>
      <p:sp>
        <p:nvSpPr>
          <p:cNvPr id="20" name="challenge 4 circle"/>
          <p:cNvSpPr/>
          <p:nvPr/>
        </p:nvSpPr>
        <p:spPr>
          <a:xfrm>
            <a:off x="640080" y="3694176"/>
            <a:ext cx="603504" cy="603504"/>
          </a:xfrm>
          <a:prstGeom prst="ellipse">
            <a:avLst/>
          </a:prstGeom>
          <a:solidFill>
            <a:schemeClr val="accent2"/>
          </a:solidFill>
          <a:ln w="12700">
            <a:solidFill>
              <a:schemeClr val="accent2"/>
            </a:solidFill>
            <a:prstDash val="solid"/>
          </a:ln>
        </p:spPr>
      </p:sp>
      <p:pic>
        <p:nvPicPr>
          <p:cNvPr id="21" name="challenge 4 icon" descr="preencoded.png"/>
          <p:cNvPicPr>
            <a:picLocks noChangeAspect="1"/>
          </p:cNvPicPr>
          <p:nvPr/>
        </p:nvPicPr>
        <p:blipFill>
          <a:blip r:embed="rId7"/>
          <a:stretch>
            <a:fillRect/>
          </a:stretch>
        </p:blipFill>
        <p:spPr>
          <a:xfrm>
            <a:off x="790956" y="3845052"/>
            <a:ext cx="301752" cy="301752"/>
          </a:xfrm>
          <a:prstGeom prst="rect">
            <a:avLst/>
          </a:prstGeom>
        </p:spPr>
      </p:pic>
      <p:sp>
        <p:nvSpPr>
          <p:cNvPr id="22" name="Text 15"/>
          <p:cNvSpPr txBox="1"/>
          <p:nvPr/>
        </p:nvSpPr>
        <p:spPr>
          <a:xfrm>
            <a:off x="1417320" y="3547872"/>
            <a:ext cx="2926080" cy="914400"/>
          </a:xfrm>
          <a:prstGeom prst="rect">
            <a:avLst/>
          </a:prstGeom>
          <a:noFill/>
          <a:ln/>
        </p:spPr>
        <p:txBody>
          <a:bodyPr wrap="square" lIns="0" tIns="0" rIns="0" bIns="0" rtlCol="0" anchor="ctr"/>
          <a:lstStyle/>
          <a:p>
            <a:pPr marL="0" indent="0">
              <a:buNone/>
            </a:pPr>
            <a:r>
              <a:rPr lang="en-US" sz="1500" b="1" dirty="0">
                <a:solidFill>
                  <a:schemeClr val="tx1"/>
                </a:solidFill>
              </a:rPr>
              <a:t>Double counting</a:t>
            </a:r>
            <a:endParaRPr lang="en-US" sz="1500" dirty="0"/>
          </a:p>
          <a:p>
            <a:pPr marL="0" indent="0">
              <a:buNone/>
            </a:pPr>
            <a:r>
              <a:rPr lang="en-US" sz="1300" dirty="0">
                <a:solidFill>
                  <a:schemeClr val="tx2"/>
                </a:solidFill>
              </a:rPr>
              <a:t>Without tracking, one vehicle is counted in every video frame.</a:t>
            </a:r>
            <a:endParaRPr lang="en-US" sz="1500" dirty="0"/>
          </a:p>
        </p:txBody>
      </p:sp>
      <p:sp>
        <p:nvSpPr>
          <p:cNvPr id="23" name="challenge card 5"/>
          <p:cNvSpPr/>
          <p:nvPr/>
        </p:nvSpPr>
        <p:spPr>
          <a:xfrm>
            <a:off x="4663440" y="3474720"/>
            <a:ext cx="4023360" cy="1051560"/>
          </a:xfrm>
          <a:prstGeom prst="roundRect">
            <a:avLst>
              <a:gd name="adj" fmla="val 6957"/>
            </a:avLst>
          </a:prstGeom>
          <a:solidFill>
            <a:schemeClr val="bg2"/>
          </a:solidFill>
          <a:ln w="12700">
            <a:solidFill>
              <a:schemeClr val="bg2"/>
            </a:solidFill>
            <a:prstDash val="solid"/>
          </a:ln>
        </p:spPr>
      </p:sp>
      <p:sp>
        <p:nvSpPr>
          <p:cNvPr id="24" name="challenge 5 circle"/>
          <p:cNvSpPr/>
          <p:nvPr/>
        </p:nvSpPr>
        <p:spPr>
          <a:xfrm>
            <a:off x="4846320" y="3694176"/>
            <a:ext cx="603504" cy="603504"/>
          </a:xfrm>
          <a:prstGeom prst="ellipse">
            <a:avLst/>
          </a:prstGeom>
          <a:solidFill>
            <a:schemeClr val="accent5"/>
          </a:solidFill>
          <a:ln w="12700">
            <a:solidFill>
              <a:schemeClr val="accent5"/>
            </a:solidFill>
            <a:prstDash val="solid"/>
          </a:ln>
        </p:spPr>
      </p:sp>
      <p:pic>
        <p:nvPicPr>
          <p:cNvPr id="25" name="challenge 5 icon" descr="preencoded.png"/>
          <p:cNvPicPr>
            <a:picLocks noChangeAspect="1"/>
          </p:cNvPicPr>
          <p:nvPr/>
        </p:nvPicPr>
        <p:blipFill>
          <a:blip r:embed="rId8"/>
          <a:stretch>
            <a:fillRect/>
          </a:stretch>
        </p:blipFill>
        <p:spPr>
          <a:xfrm>
            <a:off x="4997196" y="3845052"/>
            <a:ext cx="301752" cy="301752"/>
          </a:xfrm>
          <a:prstGeom prst="rect">
            <a:avLst/>
          </a:prstGeom>
        </p:spPr>
      </p:pic>
      <p:sp>
        <p:nvSpPr>
          <p:cNvPr id="26" name="Text 18"/>
          <p:cNvSpPr txBox="1"/>
          <p:nvPr/>
        </p:nvSpPr>
        <p:spPr>
          <a:xfrm>
            <a:off x="5623560" y="3547872"/>
            <a:ext cx="2926080" cy="914400"/>
          </a:xfrm>
          <a:prstGeom prst="rect">
            <a:avLst/>
          </a:prstGeom>
          <a:noFill/>
          <a:ln/>
        </p:spPr>
        <p:txBody>
          <a:bodyPr wrap="square" lIns="0" tIns="0" rIns="0" bIns="0" rtlCol="0" anchor="ctr"/>
          <a:lstStyle/>
          <a:p>
            <a:pPr marL="0" indent="0">
              <a:buNone/>
            </a:pPr>
            <a:r>
              <a:rPr lang="en-US" sz="1500" b="1" dirty="0">
                <a:solidFill>
                  <a:schemeClr val="tx1"/>
                </a:solidFill>
              </a:rPr>
              <a:t>Privacy</a:t>
            </a:r>
            <a:endParaRPr lang="en-US" sz="1500" dirty="0"/>
          </a:p>
          <a:p>
            <a:pPr marL="0" indent="0">
              <a:buNone/>
            </a:pPr>
            <a:r>
              <a:rPr lang="en-US" sz="1300" dirty="0">
                <a:solidFill>
                  <a:schemeClr val="tx2"/>
                </a:solidFill>
              </a:rPr>
              <a:t>Store counts, not faces or number plates, unless the law allows it.</a:t>
            </a:r>
            <a:endParaRPr lang="en-US" sz="1500" dirty="0"/>
          </a:p>
        </p:txBody>
      </p:sp>
      <p:sp>
        <p:nvSpPr>
          <p:cNvPr id="2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502920"/>
            <a:ext cx="8046720" cy="731520"/>
          </a:xfrm>
          <a:prstGeom prst="rect">
            <a:avLst/>
          </a:prstGeom>
          <a:noFill/>
          <a:ln/>
        </p:spPr>
        <p:txBody>
          <a:bodyPr wrap="square" lIns="0" tIns="0" rIns="0" bIns="0" rtlCol="0" anchor="ctr"/>
          <a:lstStyle/>
          <a:p>
            <a:pPr marL="0" indent="0">
              <a:buNone/>
            </a:pPr>
            <a:r>
              <a:rPr lang="en-US" sz="3600" b="1" dirty="0">
                <a:solidFill>
                  <a:schemeClr val="bg1"/>
                </a:solidFill>
                <a:latin typeface="Arial" pitchFamily="34" charset="0"/>
                <a:ea typeface="Arial" pitchFamily="34" charset="-122"/>
                <a:cs typeface="Arial" pitchFamily="34" charset="-120"/>
              </a:rPr>
              <a:t>Conclusion</a:t>
            </a:r>
            <a:endParaRPr lang="en-US" sz="3600" dirty="0"/>
          </a:p>
        </p:txBody>
      </p:sp>
      <p:sp>
        <p:nvSpPr>
          <p:cNvPr id="3" name="conclusion card 0"/>
          <p:cNvSpPr/>
          <p:nvPr/>
        </p:nvSpPr>
        <p:spPr>
          <a:xfrm>
            <a:off x="548640" y="1508760"/>
            <a:ext cx="8046720" cy="896112"/>
          </a:xfrm>
          <a:prstGeom prst="roundRect">
            <a:avLst>
              <a:gd name="adj" fmla="val 8163"/>
            </a:avLst>
          </a:prstGeom>
          <a:solidFill>
            <a:schemeClr val="accent6"/>
          </a:solidFill>
          <a:ln w="12700">
            <a:solidFill>
              <a:schemeClr val="accent6"/>
            </a:solidFill>
            <a:prstDash val="solid"/>
          </a:ln>
        </p:spPr>
      </p:sp>
      <p:sp>
        <p:nvSpPr>
          <p:cNvPr id="4" name="Text 2"/>
          <p:cNvSpPr txBox="1"/>
          <p:nvPr/>
        </p:nvSpPr>
        <p:spPr>
          <a:xfrm>
            <a:off x="777240" y="1508760"/>
            <a:ext cx="1371600" cy="896112"/>
          </a:xfrm>
          <a:prstGeom prst="rect">
            <a:avLst/>
          </a:prstGeom>
          <a:noFill/>
          <a:ln/>
        </p:spPr>
        <p:txBody>
          <a:bodyPr wrap="square" lIns="0" tIns="0" rIns="0" bIns="0" rtlCol="0" anchor="ctr"/>
          <a:lstStyle/>
          <a:p>
            <a:pPr marL="0" indent="0">
              <a:buNone/>
            </a:pPr>
            <a:r>
              <a:rPr lang="en-US" sz="1600" b="1" dirty="0">
                <a:solidFill>
                  <a:schemeClr val="accent1"/>
                </a:solidFill>
              </a:rPr>
              <a:t>Problem 1</a:t>
            </a:r>
            <a:endParaRPr lang="en-US" sz="1600" dirty="0"/>
          </a:p>
        </p:txBody>
      </p:sp>
      <p:sp>
        <p:nvSpPr>
          <p:cNvPr id="5" name="Text 3"/>
          <p:cNvSpPr txBox="1"/>
          <p:nvPr/>
        </p:nvSpPr>
        <p:spPr>
          <a:xfrm>
            <a:off x="2194560" y="1508760"/>
            <a:ext cx="6217920" cy="896112"/>
          </a:xfrm>
          <a:prstGeom prst="rect">
            <a:avLst/>
          </a:prstGeom>
          <a:noFill/>
          <a:ln/>
        </p:spPr>
        <p:txBody>
          <a:bodyPr wrap="square" lIns="0" tIns="0" rIns="0" bIns="0" rtlCol="0" anchor="ctr"/>
          <a:lstStyle/>
          <a:p>
            <a:pPr marL="0" indent="0">
              <a:buNone/>
            </a:pPr>
            <a:r>
              <a:rPr lang="en-US" sz="1400" dirty="0">
                <a:solidFill>
                  <a:schemeClr val="bg1"/>
                </a:solidFill>
              </a:rPr>
              <a:t>Detection locates every vehicle; classification labels it car, bus or motorcycle; counting per class produces a time-stamped traffic report.</a:t>
            </a:r>
            <a:endParaRPr lang="en-US" sz="1400" dirty="0"/>
          </a:p>
        </p:txBody>
      </p:sp>
      <p:sp>
        <p:nvSpPr>
          <p:cNvPr id="6" name="conclusion card 1"/>
          <p:cNvSpPr/>
          <p:nvPr/>
        </p:nvSpPr>
        <p:spPr>
          <a:xfrm>
            <a:off x="548640" y="2560320"/>
            <a:ext cx="8046720" cy="896112"/>
          </a:xfrm>
          <a:prstGeom prst="roundRect">
            <a:avLst>
              <a:gd name="adj" fmla="val 8163"/>
            </a:avLst>
          </a:prstGeom>
          <a:solidFill>
            <a:schemeClr val="accent6"/>
          </a:solidFill>
          <a:ln w="12700">
            <a:solidFill>
              <a:schemeClr val="accent6"/>
            </a:solidFill>
            <a:prstDash val="solid"/>
          </a:ln>
        </p:spPr>
      </p:sp>
      <p:sp>
        <p:nvSpPr>
          <p:cNvPr id="7" name="Text 5"/>
          <p:cNvSpPr txBox="1"/>
          <p:nvPr/>
        </p:nvSpPr>
        <p:spPr>
          <a:xfrm>
            <a:off x="777240" y="2560320"/>
            <a:ext cx="1371600" cy="896112"/>
          </a:xfrm>
          <a:prstGeom prst="rect">
            <a:avLst/>
          </a:prstGeom>
          <a:noFill/>
          <a:ln/>
        </p:spPr>
        <p:txBody>
          <a:bodyPr wrap="square" lIns="0" tIns="0" rIns="0" bIns="0" rtlCol="0" anchor="ctr"/>
          <a:lstStyle/>
          <a:p>
            <a:pPr marL="0" indent="0">
              <a:buNone/>
            </a:pPr>
            <a:r>
              <a:rPr lang="en-US" sz="1600" b="1" dirty="0">
                <a:solidFill>
                  <a:schemeClr val="accent1"/>
                </a:solidFill>
              </a:rPr>
              <a:t>Problem 2</a:t>
            </a:r>
            <a:endParaRPr lang="en-US" sz="1600" dirty="0"/>
          </a:p>
        </p:txBody>
      </p:sp>
      <p:sp>
        <p:nvSpPr>
          <p:cNvPr id="8" name="Text 6"/>
          <p:cNvSpPr txBox="1"/>
          <p:nvPr/>
        </p:nvSpPr>
        <p:spPr>
          <a:xfrm>
            <a:off x="2194560" y="2560320"/>
            <a:ext cx="6217920" cy="896112"/>
          </a:xfrm>
          <a:prstGeom prst="rect">
            <a:avLst/>
          </a:prstGeom>
          <a:noFill/>
          <a:ln/>
        </p:spPr>
        <p:txBody>
          <a:bodyPr wrap="square" lIns="0" tIns="0" rIns="0" bIns="0" rtlCol="0" anchor="ctr"/>
          <a:lstStyle/>
          <a:p>
            <a:pPr marL="0" indent="0">
              <a:buNone/>
            </a:pPr>
            <a:r>
              <a:rPr lang="en-US" sz="1400" dirty="0">
                <a:solidFill>
                  <a:schemeClr val="bg1"/>
                </a:solidFill>
              </a:rPr>
              <a:t>Total = 12 + 4 + 9 = 25 vehicles. Motorcycles = 9 ÷ 25 × 100 = 36% of the traffic.</a:t>
            </a:r>
            <a:endParaRPr lang="en-US" sz="1400" dirty="0"/>
          </a:p>
        </p:txBody>
      </p:sp>
      <p:sp>
        <p:nvSpPr>
          <p:cNvPr id="9" name="conclusion card 2"/>
          <p:cNvSpPr/>
          <p:nvPr/>
        </p:nvSpPr>
        <p:spPr>
          <a:xfrm>
            <a:off x="548640" y="3611880"/>
            <a:ext cx="8046720" cy="896112"/>
          </a:xfrm>
          <a:prstGeom prst="roundRect">
            <a:avLst>
              <a:gd name="adj" fmla="val 8163"/>
            </a:avLst>
          </a:prstGeom>
          <a:solidFill>
            <a:schemeClr val="accent6"/>
          </a:solidFill>
          <a:ln w="12700">
            <a:solidFill>
              <a:schemeClr val="accent6"/>
            </a:solidFill>
            <a:prstDash val="solid"/>
          </a:ln>
        </p:spPr>
      </p:sp>
      <p:sp>
        <p:nvSpPr>
          <p:cNvPr id="10" name="Text 8"/>
          <p:cNvSpPr txBox="1"/>
          <p:nvPr/>
        </p:nvSpPr>
        <p:spPr>
          <a:xfrm>
            <a:off x="777240" y="3611880"/>
            <a:ext cx="1371600" cy="896112"/>
          </a:xfrm>
          <a:prstGeom prst="rect">
            <a:avLst/>
          </a:prstGeom>
          <a:noFill/>
          <a:ln/>
        </p:spPr>
        <p:txBody>
          <a:bodyPr wrap="square" lIns="0" tIns="0" rIns="0" bIns="0" rtlCol="0" anchor="ctr"/>
          <a:lstStyle/>
          <a:p>
            <a:pPr marL="0" indent="0">
              <a:buNone/>
            </a:pPr>
            <a:r>
              <a:rPr lang="en-US" sz="1600" b="1" dirty="0">
                <a:solidFill>
                  <a:schemeClr val="accent1"/>
                </a:solidFill>
              </a:rPr>
              <a:t>Takeaway</a:t>
            </a:r>
            <a:endParaRPr lang="en-US" sz="1600" dirty="0"/>
          </a:p>
        </p:txBody>
      </p:sp>
      <p:sp>
        <p:nvSpPr>
          <p:cNvPr id="11" name="Text 9"/>
          <p:cNvSpPr txBox="1"/>
          <p:nvPr/>
        </p:nvSpPr>
        <p:spPr>
          <a:xfrm>
            <a:off x="2194560" y="3611880"/>
            <a:ext cx="6217920" cy="896112"/>
          </a:xfrm>
          <a:prstGeom prst="rect">
            <a:avLst/>
          </a:prstGeom>
          <a:noFill/>
          <a:ln/>
        </p:spPr>
        <p:txBody>
          <a:bodyPr wrap="square" lIns="0" tIns="0" rIns="0" bIns="0" rtlCol="0" anchor="ctr"/>
          <a:lstStyle/>
          <a:p>
            <a:pPr marL="0" indent="0">
              <a:buNone/>
            </a:pPr>
            <a:r>
              <a:rPr lang="en-US" sz="1400" dirty="0">
                <a:solidFill>
                  <a:schemeClr val="bg1"/>
                </a:solidFill>
              </a:rPr>
              <a:t>Counts are only as reliable as the detector, so test on local traffic, track across frames and review low-confidence results.</a:t>
            </a:r>
            <a:endParaRPr lang="en-US" sz="1400" dirty="0"/>
          </a:p>
        </p:txBody>
      </p:sp>
      <p:sp>
        <p:nvSpPr>
          <p:cNvPr id="12" name="Text 10"/>
          <p:cNvSpPr txBox="1"/>
          <p:nvPr/>
        </p:nvSpPr>
        <p:spPr>
          <a:xfrm>
            <a:off x="548640" y="4572000"/>
            <a:ext cx="8046720" cy="320040"/>
          </a:xfrm>
          <a:prstGeom prst="rect">
            <a:avLst/>
          </a:prstGeom>
          <a:noFill/>
          <a:ln/>
        </p:spPr>
        <p:txBody>
          <a:bodyPr wrap="square" lIns="0" tIns="0" rIns="0" bIns="0" rtlCol="0" anchor="ctr"/>
          <a:lstStyle/>
          <a:p>
            <a:pPr marL="0" indent="0">
              <a:buNone/>
            </a:pPr>
            <a:r>
              <a:rPr lang="en-US" sz="1400" dirty="0">
                <a:solidFill>
                  <a:schemeClr val="accent5"/>
                </a:solidFill>
              </a:rPr>
              <a:t>Thank you  ·  Questions?</a:t>
            </a:r>
            <a:endParaRPr lang="en-US" sz="1400" dirty="0"/>
          </a:p>
        </p:txBody>
      </p:sp>
      <p:sp>
        <p:nvSpPr>
          <p:cNvPr id="14" name="Text 0"/>
          <p:cNvSpPr>
            <a:spLocks noGrp="1"/>
          </p:cNvSpPr>
          <p:nvPr>
            <p:ph type="title" idx="100" hasCustomPrompt="1"/>
          </p:nvPr>
        </p:nvSpPr>
        <p:spPr>
          <a:xfrm>
            <a:off x="548640" y="1417320"/>
            <a:ext cx="8046720" cy="1371600"/>
          </a:xfrm>
          <a:prstGeom prst="rect">
            <a:avLst/>
          </a:prstGeom>
          <a:noFill/>
          <a:ln/>
        </p:spPr>
        <p:txBody>
          <a:bodyPr wrap="square" lIns="0" tIns="0" rIns="0" bIns="0" rtlCol="0" anchor="b"/>
          <a:lstStyle/>
          <a:p>
            <a:pPr marL="0" indent="0" algn="l">
              <a:buNone/>
            </a:pPr>
            <a:endParaRPr lang="en-US" sz="4000" dirty="0"/>
          </a:p>
        </p:txBody>
      </p:sp>
      <p:sp>
        <p:nvSpPr>
          <p:cNvPr id="15" name="Text 0"/>
          <p:cNvSpPr>
            <a:spLocks noGrp="1"/>
          </p:cNvSpPr>
          <p:nvPr>
            <p:ph type="body" idx="101" hasCustomPrompt="1"/>
          </p:nvPr>
        </p:nvSpPr>
        <p:spPr>
          <a:xfrm>
            <a:off x="548640" y="2926080"/>
            <a:ext cx="8046720" cy="1097280"/>
          </a:xfrm>
          <a:prstGeom prst="rect">
            <a:avLst/>
          </a:prstGeom>
          <a:noFill/>
          <a:ln/>
        </p:spPr>
        <p:txBody>
          <a:bodyPr wrap="square" lIns="0" tIns="0" rIns="0" bIns="0" rtlCol="0" anchor="t"/>
          <a:lstStyle/>
          <a:p>
            <a:pPr marL="0" indent="0">
              <a:buNone/>
            </a:pPr>
            <a:endParaRPr lang="en-US" sz="1600" dirty="0"/>
          </a:p>
        </p:txBody>
      </p:sp>
    </p:spTree>
  </p:cSld>
  <p:clrMapOvr>
    <a:masterClrMapping/>
  </p:clrMapOvr>
</p:sld>
</file>

<file path=ppt/theme/theme1.xml><?xml version="1.0" encoding="utf-8"?>
<a:theme xmlns:a="http://schemas.openxmlformats.org/drawingml/2006/main" name="Traffic Signal">
  <a:themeElements>
    <a:clrScheme name="Traffic Signal">
      <a:dk1>
        <a:srgbClr val="1B1F27"/>
      </a:dk1>
      <a:lt1>
        <a:srgbClr val="FFFFFF"/>
      </a:lt1>
      <a:dk2>
        <a:srgbClr val="4A5160"/>
      </a:dk2>
      <a:lt2>
        <a:srgbClr val="F2F3F5"/>
      </a:lt2>
      <a:accent1>
        <a:srgbClr val="FFB400"/>
      </a:accent1>
      <a:accent2>
        <a:srgbClr val="2E9E5B"/>
      </a:accent2>
      <a:accent3>
        <a:srgbClr val="E04F3F"/>
      </a:accent3>
      <a:accent4>
        <a:srgbClr val="3A86C8"/>
      </a:accent4>
      <a:accent5>
        <a:srgbClr val="8A93A3"/>
      </a:accent5>
      <a:accent6>
        <a:srgbClr val="2B313C"/>
      </a:accent6>
      <a:hlink>
        <a:srgbClr val="3A86C8"/>
      </a:hlink>
      <a:folHlink>
        <a:srgbClr val="6C4AB6"/>
      </a:folHlink>
    </a:clrScheme>
    <a:fontScheme name="Traffic Sig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1424</Words>
  <Application>Microsoft Office PowerPoint</Application>
  <PresentationFormat>On-screen Show (16:9)</PresentationFormat>
  <Paragraphs>171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Courier New</vt:lpstr>
      <vt:lpstr>Times New Roman</vt:lpstr>
      <vt:lpstr>Traffic Signal</vt:lpstr>
      <vt:lpstr>Vehicle Counting Using Computer Vision</vt:lpstr>
      <vt:lpstr>Why Count Vehicles Automatically?</vt:lpstr>
      <vt:lpstr>Problem 1: From Image to Traffic Report</vt:lpstr>
      <vt:lpstr>How Detection and Classification Work</vt:lpstr>
      <vt:lpstr>Turning Counts into a Useful Traffic Report</vt:lpstr>
      <vt:lpstr>Problem 2: Total Count and Motorcycle Share</vt:lpstr>
      <vt:lpstr>Interpreting the Result</vt:lpstr>
      <vt:lpstr>Python / OpenCV Demonstration</vt:lpstr>
      <vt:lpstr>Challenges and Limitations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Vehicle Counting Using Computer Vision</dc:title>
  <dc:subject>ITA05 Computer Vision – CO2-AT3 Technical Presentation</dc:subject>
  <dc:creator>PptxGenJS</dc:creator>
  <cp:lastModifiedBy>SAIL</cp:lastModifiedBy>
  <cp:revision>2</cp:revision>
  <dcterms:created xsi:type="dcterms:W3CDTF">2026-10-26T02:56:17Z</dcterms:created>
  <dcterms:modified xsi:type="dcterms:W3CDTF">2026-10-26T03:03:44Z</dcterms:modified>
</cp:coreProperties>
</file>